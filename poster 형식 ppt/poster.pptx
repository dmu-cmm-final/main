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9" r:id="rId2"/>
  </p:sldIdLst>
  <p:sldSz cx="21383625" cy="30275213"/>
  <p:notesSz cx="6858000" cy="9144000"/>
  <p:defaultTextStyle>
    <a:defPPr>
      <a:defRPr lang="ko-KR"/>
    </a:defPPr>
    <a:lvl1pPr marL="0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1pPr>
    <a:lvl2pPr marL="1475007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2pPr>
    <a:lvl3pPr marL="2950016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3pPr>
    <a:lvl4pPr marL="4425022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4pPr>
    <a:lvl5pPr marL="5900029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5pPr>
    <a:lvl6pPr marL="7375035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6pPr>
    <a:lvl7pPr marL="8850044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7pPr>
    <a:lvl8pPr marL="10325052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8pPr>
    <a:lvl9pPr marL="11800059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6" userDrawn="1">
          <p15:clr>
            <a:srgbClr val="A4A3A4"/>
          </p15:clr>
        </p15:guide>
        <p15:guide id="2" pos="6735" userDrawn="1">
          <p15:clr>
            <a:srgbClr val="A4A3A4"/>
          </p15:clr>
        </p15:guide>
        <p15:guide id="3" pos="424" userDrawn="1">
          <p15:clr>
            <a:srgbClr val="A4A3A4"/>
          </p15:clr>
        </p15:guide>
        <p15:guide id="4" pos="130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6EAA"/>
    <a:srgbClr val="FFFFFF"/>
    <a:srgbClr val="4BACC6"/>
    <a:srgbClr val="FFC34B"/>
    <a:srgbClr val="F7A400"/>
    <a:srgbClr val="F37413"/>
    <a:srgbClr val="F9E699"/>
    <a:srgbClr val="9CC57D"/>
    <a:srgbClr val="8EA604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47" autoAdjust="0"/>
    <p:restoredTop sz="94741" autoAdjust="0"/>
  </p:normalViewPr>
  <p:slideViewPr>
    <p:cSldViewPr showGuides="1">
      <p:cViewPr>
        <p:scale>
          <a:sx n="37" d="100"/>
          <a:sy n="37" d="100"/>
        </p:scale>
        <p:origin x="2968" y="-1552"/>
      </p:cViewPr>
      <p:guideLst>
        <p:guide orient="horz" pos="9536"/>
        <p:guide pos="6735"/>
        <p:guide pos="424"/>
        <p:guide pos="130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2080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75A67-930C-4E92-A71E-AE4DD44D14DD}" type="datetimeFigureOut">
              <a:rPr lang="ko-KR" altLang="en-US" smtClean="0"/>
              <a:t>2025. 10. 29.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11B17-461A-4354-B8E8-CB912E0EE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55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1pPr>
    <a:lvl2pPr marL="323013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2pPr>
    <a:lvl3pPr marL="646026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3pPr>
    <a:lvl4pPr marL="969039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4pPr>
    <a:lvl5pPr marL="1292054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5pPr>
    <a:lvl6pPr marL="1615066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6pPr>
    <a:lvl7pPr marL="1938080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7pPr>
    <a:lvl8pPr marL="2261093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8pPr>
    <a:lvl9pPr marL="2584107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1B17-461A-4354-B8E8-CB912E0EE15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520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E54038C-C7A5-DF70-164D-A1560BD81914}"/>
              </a:ext>
            </a:extLst>
          </p:cNvPr>
          <p:cNvGrpSpPr/>
          <p:nvPr userDrawn="1"/>
        </p:nvGrpSpPr>
        <p:grpSpPr>
          <a:xfrm>
            <a:off x="0" y="30037286"/>
            <a:ext cx="21383626" cy="237927"/>
            <a:chOff x="7698" y="1"/>
            <a:chExt cx="32363652" cy="55516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8D7BA7F9-2FE2-459B-0C4D-1FAD48C85AB1}"/>
                </a:ext>
              </a:extLst>
            </p:cNvPr>
            <p:cNvSpPr/>
            <p:nvPr/>
          </p:nvSpPr>
          <p:spPr>
            <a:xfrm>
              <a:off x="10771260" y="1"/>
              <a:ext cx="21600090" cy="555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0AA8ECC-4BF9-BE30-BD88-6DE5F2429749}"/>
                </a:ext>
              </a:extLst>
            </p:cNvPr>
            <p:cNvSpPr/>
            <p:nvPr/>
          </p:nvSpPr>
          <p:spPr>
            <a:xfrm>
              <a:off x="7698" y="1"/>
              <a:ext cx="21600090" cy="555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9CA4F2C-FC5F-7C1F-3730-792D44BB09F7}"/>
                </a:ext>
              </a:extLst>
            </p:cNvPr>
            <p:cNvSpPr/>
            <p:nvPr/>
          </p:nvSpPr>
          <p:spPr>
            <a:xfrm>
              <a:off x="5399598" y="1"/>
              <a:ext cx="21600090" cy="55516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19DEB0-06FE-61C4-83A1-E6DDEED2EAEB}"/>
              </a:ext>
            </a:extLst>
          </p:cNvPr>
          <p:cNvGrpSpPr/>
          <p:nvPr userDrawn="1"/>
        </p:nvGrpSpPr>
        <p:grpSpPr>
          <a:xfrm>
            <a:off x="-235" y="0"/>
            <a:ext cx="21384538" cy="4719954"/>
            <a:chOff x="-26762" y="-1"/>
            <a:chExt cx="30276505" cy="667317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4A0017C-9D1D-44DD-D423-D10D6A6E6057}"/>
                </a:ext>
              </a:extLst>
            </p:cNvPr>
            <p:cNvSpPr/>
            <p:nvPr userDrawn="1"/>
          </p:nvSpPr>
          <p:spPr>
            <a:xfrm>
              <a:off x="-26135" y="-1"/>
              <a:ext cx="30275878" cy="6480000"/>
            </a:xfrm>
            <a:prstGeom prst="rect">
              <a:avLst/>
            </a:prstGeom>
            <a:solidFill>
              <a:srgbClr val="0D6E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F4D5095-DFAB-FCB4-5A66-FCFEACFF5485}"/>
                </a:ext>
              </a:extLst>
            </p:cNvPr>
            <p:cNvSpPr/>
            <p:nvPr/>
          </p:nvSpPr>
          <p:spPr>
            <a:xfrm>
              <a:off x="-26762" y="6199176"/>
              <a:ext cx="30275878" cy="47399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</p:grpSp>
    </p:spTree>
    <p:extLst>
      <p:ext uri="{BB962C8B-B14F-4D97-AF65-F5344CB8AC3E}">
        <p14:creationId xmlns:p14="http://schemas.microsoft.com/office/powerpoint/2010/main" val="2511551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1186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AC176D51-4B99-102F-04CD-89BE9B269BC8}"/>
              </a:ext>
            </a:extLst>
          </p:cNvPr>
          <p:cNvSpPr/>
          <p:nvPr userDrawn="1"/>
        </p:nvSpPr>
        <p:spPr>
          <a:xfrm>
            <a:off x="10691813" y="5285114"/>
            <a:ext cx="0" cy="24189749"/>
          </a:xfrm>
          <a:custGeom>
            <a:avLst/>
            <a:gdLst>
              <a:gd name="connsiteX0" fmla="*/ 0 w 0"/>
              <a:gd name="connsiteY0" fmla="*/ 0 h 34355314"/>
              <a:gd name="connsiteX1" fmla="*/ 0 w 0"/>
              <a:gd name="connsiteY1" fmla="*/ 34355314 h 3435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4355314">
                <a:moveTo>
                  <a:pt x="0" y="0"/>
                </a:moveTo>
                <a:lnTo>
                  <a:pt x="0" y="34355314"/>
                </a:lnTo>
              </a:path>
            </a:pathLst>
          </a:custGeom>
          <a:noFill/>
          <a:ln w="9525">
            <a:solidFill>
              <a:schemeClr val="bg1">
                <a:lumMod val="85000"/>
              </a:schemeClr>
            </a:solidFill>
            <a:headEnd type="oval" w="sm" len="med"/>
            <a:tailEnd type="oval"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2"/>
          </a:p>
        </p:txBody>
      </p:sp>
    </p:spTree>
    <p:extLst>
      <p:ext uri="{BB962C8B-B14F-4D97-AF65-F5344CB8AC3E}">
        <p14:creationId xmlns:p14="http://schemas.microsoft.com/office/powerpoint/2010/main" val="1993999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AC176D51-4B99-102F-04CD-89BE9B269BC8}"/>
              </a:ext>
            </a:extLst>
          </p:cNvPr>
          <p:cNvSpPr/>
          <p:nvPr userDrawn="1"/>
        </p:nvSpPr>
        <p:spPr>
          <a:xfrm>
            <a:off x="10691813" y="5285114"/>
            <a:ext cx="0" cy="24189749"/>
          </a:xfrm>
          <a:custGeom>
            <a:avLst/>
            <a:gdLst>
              <a:gd name="connsiteX0" fmla="*/ 0 w 0"/>
              <a:gd name="connsiteY0" fmla="*/ 0 h 34355314"/>
              <a:gd name="connsiteX1" fmla="*/ 0 w 0"/>
              <a:gd name="connsiteY1" fmla="*/ 34355314 h 3435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4355314">
                <a:moveTo>
                  <a:pt x="0" y="0"/>
                </a:moveTo>
                <a:lnTo>
                  <a:pt x="0" y="34355314"/>
                </a:lnTo>
              </a:path>
            </a:pathLst>
          </a:custGeom>
          <a:noFill/>
          <a:ln w="9525">
            <a:solidFill>
              <a:schemeClr val="bg1">
                <a:lumMod val="85000"/>
              </a:schemeClr>
            </a:solidFill>
            <a:headEnd type="oval" w="sm" len="med"/>
            <a:tailEnd type="oval"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2"/>
          </a:p>
        </p:txBody>
      </p:sp>
    </p:spTree>
    <p:extLst>
      <p:ext uri="{BB962C8B-B14F-4D97-AF65-F5344CB8AC3E}">
        <p14:creationId xmlns:p14="http://schemas.microsoft.com/office/powerpoint/2010/main" val="219652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675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448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069181" y="1212415"/>
            <a:ext cx="19245263" cy="5045868"/>
          </a:xfrm>
          <a:prstGeom prst="rect">
            <a:avLst/>
          </a:prstGeom>
        </p:spPr>
        <p:txBody>
          <a:bodyPr vert="horz" lIns="417635" tIns="208818" rIns="417635" bIns="208818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69181" y="7064223"/>
            <a:ext cx="19245263" cy="19980241"/>
          </a:xfrm>
          <a:prstGeom prst="rect">
            <a:avLst/>
          </a:prstGeom>
        </p:spPr>
        <p:txBody>
          <a:bodyPr vert="horz" lIns="417635" tIns="208818" rIns="417635" bIns="208818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069185" y="28060641"/>
            <a:ext cx="4989513" cy="1611875"/>
          </a:xfrm>
          <a:prstGeom prst="rect">
            <a:avLst/>
          </a:prstGeom>
        </p:spPr>
        <p:txBody>
          <a:bodyPr vert="horz" lIns="417635" tIns="208818" rIns="417635" bIns="208818" rtlCol="0" anchor="ctr"/>
          <a:lstStyle>
            <a:lvl1pPr algn="l">
              <a:defRPr sz="3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D32EA-93D2-422C-9D50-DCDFD5662F59}" type="datetimeFigureOut">
              <a:rPr lang="ko-KR" altLang="en-US" smtClean="0"/>
              <a:t>2025. 10. 29.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7306075" y="28060641"/>
            <a:ext cx="6771481" cy="1611875"/>
          </a:xfrm>
          <a:prstGeom prst="rect">
            <a:avLst/>
          </a:prstGeom>
        </p:spPr>
        <p:txBody>
          <a:bodyPr vert="horz" lIns="417635" tIns="208818" rIns="417635" bIns="208818" rtlCol="0" anchor="ctr"/>
          <a:lstStyle>
            <a:lvl1pPr algn="ctr">
              <a:defRPr sz="3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5324936" y="28060641"/>
            <a:ext cx="4989513" cy="1611875"/>
          </a:xfrm>
          <a:prstGeom prst="rect">
            <a:avLst/>
          </a:prstGeom>
        </p:spPr>
        <p:txBody>
          <a:bodyPr vert="horz" lIns="417635" tIns="208818" rIns="417635" bIns="208818" rtlCol="0" anchor="ctr"/>
          <a:lstStyle>
            <a:lvl1pPr algn="r">
              <a:defRPr sz="3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A678E-E807-4BC3-8392-26D7FE55F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51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2" r:id="rId3"/>
    <p:sldLayoutId id="2147483663" r:id="rId4"/>
    <p:sldLayoutId id="2147483659" r:id="rId5"/>
    <p:sldLayoutId id="2147483660" r:id="rId6"/>
  </p:sldLayoutIdLst>
  <p:txStyles>
    <p:titleStyle>
      <a:lvl1pPr algn="ctr" defTabSz="2777100" rtl="0" eaLnBrk="1" latinLnBrk="1" hangingPunct="1">
        <a:spcBef>
          <a:spcPct val="0"/>
        </a:spcBef>
        <a:buNone/>
        <a:defRPr sz="133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41412" indent="-1041412" algn="l" defTabSz="2777100" rtl="0" eaLnBrk="1" latinLnBrk="1" hangingPunct="1">
        <a:spcBef>
          <a:spcPct val="20000"/>
        </a:spcBef>
        <a:buFont typeface="Arial" pitchFamily="34" charset="0"/>
        <a:buChar char="•"/>
        <a:defRPr sz="9708" kern="1200">
          <a:solidFill>
            <a:schemeClr val="tx1"/>
          </a:solidFill>
          <a:latin typeface="+mn-lt"/>
          <a:ea typeface="+mn-ea"/>
          <a:cs typeface="+mn-cs"/>
        </a:defRPr>
      </a:lvl1pPr>
      <a:lvl2pPr marL="2256393" indent="-867844" algn="l" defTabSz="2777100" rtl="0" eaLnBrk="1" latinLnBrk="1" hangingPunct="1">
        <a:spcBef>
          <a:spcPct val="20000"/>
        </a:spcBef>
        <a:buFont typeface="Arial" pitchFamily="34" charset="0"/>
        <a:buChar char="–"/>
        <a:defRPr sz="8445" kern="1200">
          <a:solidFill>
            <a:schemeClr val="tx1"/>
          </a:solidFill>
          <a:latin typeface="+mn-lt"/>
          <a:ea typeface="+mn-ea"/>
          <a:cs typeface="+mn-cs"/>
        </a:defRPr>
      </a:lvl2pPr>
      <a:lvl3pPr marL="3471373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7314" kern="1200">
          <a:solidFill>
            <a:schemeClr val="tx1"/>
          </a:solidFill>
          <a:latin typeface="+mn-lt"/>
          <a:ea typeface="+mn-ea"/>
          <a:cs typeface="+mn-cs"/>
        </a:defRPr>
      </a:lvl3pPr>
      <a:lvl4pPr marL="4859922" indent="-694276" algn="l" defTabSz="2777100" rtl="0" eaLnBrk="1" latinLnBrk="1" hangingPunct="1">
        <a:spcBef>
          <a:spcPct val="20000"/>
        </a:spcBef>
        <a:buFont typeface="Arial" pitchFamily="34" charset="0"/>
        <a:buChar char="–"/>
        <a:defRPr sz="6052" kern="1200">
          <a:solidFill>
            <a:schemeClr val="tx1"/>
          </a:solidFill>
          <a:latin typeface="+mn-lt"/>
          <a:ea typeface="+mn-ea"/>
          <a:cs typeface="+mn-cs"/>
        </a:defRPr>
      </a:lvl4pPr>
      <a:lvl5pPr marL="6248472" indent="-694276" algn="l" defTabSz="2777100" rtl="0" eaLnBrk="1" latinLnBrk="1" hangingPunct="1">
        <a:spcBef>
          <a:spcPct val="20000"/>
        </a:spcBef>
        <a:buFont typeface="Arial" pitchFamily="34" charset="0"/>
        <a:buChar char="»"/>
        <a:defRPr sz="6052" kern="1200">
          <a:solidFill>
            <a:schemeClr val="tx1"/>
          </a:solidFill>
          <a:latin typeface="+mn-lt"/>
          <a:ea typeface="+mn-ea"/>
          <a:cs typeface="+mn-cs"/>
        </a:defRPr>
      </a:lvl5pPr>
      <a:lvl6pPr marL="7637023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6pPr>
      <a:lvl7pPr marL="9025573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7pPr>
      <a:lvl8pPr marL="10414122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8pPr>
      <a:lvl9pPr marL="11802670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1pPr>
      <a:lvl2pPr marL="1388549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2pPr>
      <a:lvl3pPr marL="2777100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3pPr>
      <a:lvl4pPr marL="4165649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4pPr>
      <a:lvl5pPr marL="5554197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5pPr>
      <a:lvl6pPr marL="6942747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6pPr>
      <a:lvl7pPr marL="8331298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7pPr>
      <a:lvl8pPr marL="9719847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8pPr>
      <a:lvl9pPr marL="11108396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36" userDrawn="1">
          <p15:clr>
            <a:srgbClr val="F26B43"/>
          </p15:clr>
        </p15:guide>
        <p15:guide id="2" pos="673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www.canva.dev/blog/engineering/realtime-mouse-pointers/" TargetMode="External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developer.mozilla.org/ko/docs/Web/API/WebSockets_API" TargetMode="External"/><Relationship Id="rId4" Type="http://schemas.openxmlformats.org/officeDocument/2006/relationships/hyperlink" Target="https://www.youtube.com/watch?v=mSpaws5bDTc" TargetMode="Externa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208259-8491-FAA0-62E5-64D2BDD2D759}"/>
              </a:ext>
            </a:extLst>
          </p:cNvPr>
          <p:cNvSpPr/>
          <p:nvPr/>
        </p:nvSpPr>
        <p:spPr>
          <a:xfrm>
            <a:off x="686376" y="6178088"/>
            <a:ext cx="9723171" cy="1140822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ko-KR" altLang="en-US" sz="2000" dirty="0">
                <a:ea typeface="나눔고딕" panose="020D0604000000000000"/>
              </a:rPr>
              <a:t>기존의 정적인 문서 기반 협업 툴은 실시간 상호작용과 자유로운 아이디어 공유에 명확한 한계를 가집니다</a:t>
            </a:r>
            <a:r>
              <a:rPr lang="en-US" altLang="ko-KR" sz="2000" dirty="0">
                <a:ea typeface="나눔고딕" panose="020D0604000000000000"/>
              </a:rPr>
              <a:t>. </a:t>
            </a:r>
            <a:r>
              <a:rPr lang="ko-KR" altLang="en-US" sz="2000" dirty="0">
                <a:ea typeface="나눔고딕" panose="020D0604000000000000"/>
              </a:rPr>
              <a:t>저희 프로젝트는 이러한 한계를 극복하고 </a:t>
            </a:r>
            <a:r>
              <a:rPr lang="ko-KR" altLang="en-US" sz="2000" dirty="0" err="1">
                <a:ea typeface="나눔고딕" panose="020D0604000000000000"/>
              </a:rPr>
              <a:t>실시간성과</a:t>
            </a:r>
            <a:r>
              <a:rPr lang="ko-KR" altLang="en-US" sz="2000" dirty="0">
                <a:ea typeface="나눔고딕" panose="020D0604000000000000"/>
              </a:rPr>
              <a:t> </a:t>
            </a:r>
            <a:r>
              <a:rPr lang="ko-KR" altLang="en-US" sz="2000" dirty="0" err="1">
                <a:ea typeface="나눔고딕" panose="020D0604000000000000"/>
              </a:rPr>
              <a:t>자유도를</a:t>
            </a:r>
            <a:r>
              <a:rPr lang="ko-KR" altLang="en-US" sz="2000" dirty="0">
                <a:ea typeface="나눔고딕" panose="020D0604000000000000"/>
              </a:rPr>
              <a:t> 극대화한 온라인 협업 플랫폼을 제시합니다</a:t>
            </a:r>
            <a:r>
              <a:rPr lang="en-US" altLang="ko-KR" sz="2000" dirty="0">
                <a:ea typeface="나눔고딕" panose="020D0604000000000000"/>
              </a:rPr>
              <a:t>.</a:t>
            </a:r>
            <a:endParaRPr lang="en-US" altLang="ko-KR" sz="2000" spc="-15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50" charset="-127"/>
              <a:ea typeface="나눔고딕" panose="020D0604000000000000"/>
              <a:cs typeface="Arial" panose="020B060402020202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894DC3C-BAAE-2877-0E28-8D8DA7A425BE}"/>
              </a:ext>
            </a:extLst>
          </p:cNvPr>
          <p:cNvSpPr/>
          <p:nvPr/>
        </p:nvSpPr>
        <p:spPr>
          <a:xfrm>
            <a:off x="10974082" y="22071011"/>
            <a:ext cx="9723172" cy="3159644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ko-KR" sz="339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 ExtraBold" pitchFamily="50" charset="-127"/>
                <a:ea typeface="나눔고딕 ExtraBold" pitchFamily="50" charset="-127"/>
              </a:rPr>
              <a:t>REFERENCES</a:t>
            </a:r>
          </a:p>
          <a:p>
            <a:pPr marL="457200" indent="-457200">
              <a:buAutoNum type="arabicPeriod"/>
            </a:pPr>
            <a:r>
              <a:rPr lang="en" altLang="ko-KR" sz="2000" dirty="0">
                <a:latin typeface="NanumGothic" panose="020D0604000000000000" pitchFamily="34" charset="-127"/>
                <a:ea typeface="NanumGothic" panose="020D0604000000000000" pitchFamily="34" charset="-127"/>
              </a:rPr>
              <a:t>Anton Egorov, Mark Gurevich (2024). Real-time mouse pointers Canva Developers Blogs. Available at:</a:t>
            </a:r>
            <a:r>
              <a:rPr lang="ko-KR" altLang="en-US" sz="20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" altLang="ko-KR" sz="2000" dirty="0">
                <a:latin typeface="NanumGothic" panose="020D0604000000000000" pitchFamily="34" charset="-127"/>
                <a:ea typeface="NanumGothic" panose="020D0604000000000000" pitchFamily="34" charset="-127"/>
                <a:hlinkClick r:id="rId3"/>
              </a:rPr>
              <a:t>https://www.canva.dev/blog/engineering/realtime-mouse-pointers/</a:t>
            </a:r>
            <a:endParaRPr lang="en" altLang="ko-KR" sz="2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457200" indent="-457200">
              <a:buAutoNum type="arabicPeriod"/>
            </a:pPr>
            <a:r>
              <a:rPr lang="ko-KR" altLang="en-US" sz="2000" dirty="0">
                <a:latin typeface="NanumGothic" panose="020D0604000000000000" pitchFamily="34" charset="-127"/>
                <a:ea typeface="NanumGothic" panose="020D0604000000000000" pitchFamily="34" charset="-127"/>
              </a:rPr>
              <a:t>우아한 </a:t>
            </a:r>
            <a:r>
              <a:rPr lang="ko-KR" altLang="en-US" sz="20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테그</a:t>
            </a:r>
            <a:r>
              <a:rPr lang="ko-KR" altLang="en-US" sz="20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2000" dirty="0">
                <a:latin typeface="NanumGothic" panose="020D0604000000000000" pitchFamily="34" charset="-127"/>
                <a:ea typeface="NanumGothic" panose="020D0604000000000000" pitchFamily="34" charset="-127"/>
              </a:rPr>
              <a:t>(2021). </a:t>
            </a:r>
            <a:r>
              <a:rPr lang="en" altLang="ko-KR" sz="2000" dirty="0">
                <a:latin typeface="NanumGothic" panose="020D0604000000000000" pitchFamily="34" charset="-127"/>
                <a:ea typeface="NanumGothic" panose="020D0604000000000000" pitchFamily="34" charset="-127"/>
              </a:rPr>
              <a:t>WebRTC</a:t>
            </a:r>
            <a:r>
              <a:rPr lang="ko-KR" altLang="en-US" sz="20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를</a:t>
            </a:r>
            <a:r>
              <a:rPr lang="ko-KR" altLang="en-US" sz="20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활용한 </a:t>
            </a:r>
            <a:r>
              <a:rPr lang="ko-KR" altLang="en-US" sz="20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안심콜</a:t>
            </a:r>
            <a:r>
              <a:rPr lang="ko-KR" altLang="en-US" sz="20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20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개발기</a:t>
            </a:r>
            <a:r>
              <a:rPr lang="ko-KR" altLang="en-US" sz="20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" altLang="ko-KR" sz="2000" dirty="0">
                <a:latin typeface="NanumGothic" panose="020D0604000000000000" pitchFamily="34" charset="-127"/>
                <a:ea typeface="NanumGothic" panose="020D0604000000000000" pitchFamily="34" charset="-127"/>
              </a:rPr>
              <a:t>YouTube. Available at: </a:t>
            </a:r>
            <a:r>
              <a:rPr lang="en" altLang="ko-KR" sz="2000" dirty="0">
                <a:latin typeface="NanumGothic" panose="020D0604000000000000" pitchFamily="34" charset="-127"/>
                <a:ea typeface="NanumGothic" panose="020D0604000000000000" pitchFamily="34" charset="-127"/>
                <a:hlinkClick r:id="rId4"/>
              </a:rPr>
              <a:t>https://www.youtube.com/watch?v=mSpaws5bDTc</a:t>
            </a:r>
            <a:endParaRPr lang="en" altLang="ko-KR" sz="2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457200" indent="-457200">
              <a:buAutoNum type="arabicPeriod"/>
            </a:pPr>
            <a:r>
              <a:rPr lang="en" altLang="ko-KR" sz="2000" dirty="0">
                <a:latin typeface="NanumGothic" panose="020D0604000000000000" pitchFamily="34" charset="-127"/>
                <a:ea typeface="NanumGothic" panose="020D0604000000000000" pitchFamily="34" charset="-127"/>
              </a:rPr>
              <a:t>Mozilla Developer Network (MDN) (2024). "WebSocket API," MDN Web Docs. Available at: </a:t>
            </a:r>
            <a:r>
              <a:rPr lang="en" altLang="ko-KR" sz="2000" dirty="0">
                <a:latin typeface="NanumGothic" panose="020D0604000000000000" pitchFamily="34" charset="-127"/>
                <a:ea typeface="NanumGothic" panose="020D0604000000000000" pitchFamily="34" charset="-127"/>
                <a:hlinkClick r:id="rId5"/>
              </a:rPr>
              <a:t>https://developer.mozilla.org/ko/docs/Web/API/WebSockets_API</a:t>
            </a:r>
            <a:endParaRPr lang="en" altLang="ko-KR" sz="2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4A8E569-8E4B-9151-4179-DD444B8B5A70}"/>
              </a:ext>
            </a:extLst>
          </p:cNvPr>
          <p:cNvSpPr/>
          <p:nvPr/>
        </p:nvSpPr>
        <p:spPr>
          <a:xfrm>
            <a:off x="10974082" y="6178088"/>
            <a:ext cx="9723173" cy="5980737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ko-KR" altLang="en-US" sz="2000" dirty="0">
                <a:latin typeface="NanumGothic" panose="020D0604000000000000" pitchFamily="34" charset="-127"/>
                <a:ea typeface="나눔고딕" panose="020D0604000000000000"/>
              </a:rPr>
              <a:t>본 연구를 통해 기존 협업 툴의 한계를 극복하고 원격 팀 협업의 효율과 </a:t>
            </a:r>
            <a:r>
              <a:rPr lang="ko-KR" altLang="en-US" sz="2000" dirty="0" err="1">
                <a:latin typeface="NanumGothic" panose="020D0604000000000000" pitchFamily="34" charset="-127"/>
                <a:ea typeface="나눔고딕" panose="020D0604000000000000"/>
              </a:rPr>
              <a:t>자유도를</a:t>
            </a:r>
            <a:r>
              <a:rPr lang="ko-KR" altLang="en-US" sz="2000" dirty="0">
                <a:latin typeface="NanumGothic" panose="020D0604000000000000" pitchFamily="34" charset="-127"/>
                <a:ea typeface="나눔고딕" panose="020D0604000000000000"/>
              </a:rPr>
              <a:t> 향상시키는 실시간 협업 플랫폼 ‘</a:t>
            </a:r>
            <a:r>
              <a:rPr lang="en" altLang="ko-KR" sz="2000" dirty="0">
                <a:latin typeface="NanumGothic" panose="020D0604000000000000" pitchFamily="34" charset="-127"/>
                <a:ea typeface="나눔고딕" panose="020D0604000000000000"/>
              </a:rPr>
              <a:t>BlankSync’</a:t>
            </a:r>
            <a:r>
              <a:rPr lang="ko-KR" altLang="en-US" sz="2000" dirty="0" err="1">
                <a:latin typeface="NanumGothic" panose="020D0604000000000000" pitchFamily="34" charset="-127"/>
                <a:ea typeface="나눔고딕" panose="020D0604000000000000"/>
              </a:rPr>
              <a:t>를</a:t>
            </a:r>
            <a:r>
              <a:rPr lang="ko-KR" altLang="en-US" sz="2000" dirty="0">
                <a:latin typeface="NanumGothic" panose="020D0604000000000000" pitchFamily="34" charset="-127"/>
                <a:ea typeface="나눔고딕" panose="020D0604000000000000"/>
              </a:rPr>
              <a:t> 성공적으로 구현했습니다</a:t>
            </a:r>
            <a:r>
              <a:rPr lang="en-US" altLang="ko-KR" sz="2000" dirty="0">
                <a:latin typeface="NanumGothic" panose="020D0604000000000000" pitchFamily="34" charset="-127"/>
                <a:ea typeface="나눔고딕" panose="020D0604000000000000"/>
              </a:rPr>
              <a:t>. </a:t>
            </a:r>
            <a:r>
              <a:rPr lang="ko-KR" altLang="en-US" sz="2000" dirty="0">
                <a:latin typeface="NanumGothic" panose="020D0604000000000000" pitchFamily="34" charset="-127"/>
                <a:ea typeface="나눔고딕" panose="020D0604000000000000"/>
              </a:rPr>
              <a:t>주요 연구 결과는 다음과 같습니다</a:t>
            </a:r>
            <a:r>
              <a:rPr lang="en-US" altLang="ko-KR" sz="2000" dirty="0">
                <a:latin typeface="NanumGothic" panose="020D0604000000000000" pitchFamily="34" charset="-127"/>
                <a:ea typeface="나눔고딕" panose="020D0604000000000000"/>
              </a:rPr>
              <a:t>.</a:t>
            </a:r>
            <a:endParaRPr lang="en-US" altLang="ko-KR" sz="2000" spc="-15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50" charset="-127"/>
              <a:ea typeface="나눔고딕" panose="020D0604000000000000"/>
              <a:cs typeface="Arial" panose="020B0604020202020204" pitchFamily="34" charset="0"/>
            </a:endParaRPr>
          </a:p>
          <a:p>
            <a:pPr marL="0" lvl="1">
              <a:lnSpc>
                <a:spcPct val="120000"/>
              </a:lnSpc>
            </a:pPr>
            <a:endParaRPr lang="en-US" altLang="ko-KR" sz="2000" spc="-15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50" charset="-127"/>
              <a:ea typeface="나눔고딕" panose="020D0604000000000000"/>
              <a:cs typeface="Arial" panose="020B0604020202020204" pitchFamily="34" charset="0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ko-KR" altLang="en-US" sz="2000" b="1" dirty="0">
                <a:latin typeface="NanumGothic" panose="020D0604000000000000" pitchFamily="34" charset="-127"/>
                <a:ea typeface="나눔고딕" panose="020D0604000000000000"/>
              </a:rPr>
              <a:t>통신 지연 시간 단축</a:t>
            </a:r>
            <a:r>
              <a:rPr lang="en-US" altLang="ko-KR" sz="2000" b="1" dirty="0">
                <a:latin typeface="NanumGothic" panose="020D0604000000000000" pitchFamily="34" charset="-127"/>
                <a:ea typeface="나눔고딕" panose="020D0604000000000000"/>
              </a:rPr>
              <a:t>:</a:t>
            </a:r>
            <a:r>
              <a:rPr lang="ko-KR" altLang="en-US" sz="2000" dirty="0">
                <a:latin typeface="NanumGothic" panose="020D0604000000000000" pitchFamily="34" charset="-127"/>
                <a:ea typeface="나눔고딕" panose="020D0604000000000000"/>
              </a:rPr>
              <a:t> </a:t>
            </a:r>
            <a:r>
              <a:rPr lang="en" altLang="ko-KR" sz="2000" dirty="0">
                <a:latin typeface="NanumGothic" panose="020D0604000000000000" pitchFamily="34" charset="-127"/>
                <a:ea typeface="나눔고딕" panose="020D0604000000000000"/>
              </a:rPr>
              <a:t>WebRTC</a:t>
            </a:r>
            <a:r>
              <a:rPr lang="ko-KR" altLang="en-US" sz="2000" dirty="0">
                <a:latin typeface="NanumGothic" panose="020D0604000000000000" pitchFamily="34" charset="-127"/>
                <a:ea typeface="나눔고딕" panose="020D0604000000000000"/>
              </a:rPr>
              <a:t>와 </a:t>
            </a:r>
            <a:r>
              <a:rPr lang="en" altLang="ko-KR" sz="2000" dirty="0">
                <a:latin typeface="NanumGothic" panose="020D0604000000000000" pitchFamily="34" charset="-127"/>
                <a:ea typeface="나눔고딕" panose="020D0604000000000000"/>
              </a:rPr>
              <a:t>Socket.io </a:t>
            </a:r>
            <a:r>
              <a:rPr lang="ko-KR" altLang="en-US" sz="2000" dirty="0">
                <a:latin typeface="NanumGothic" panose="020D0604000000000000" pitchFamily="34" charset="-127"/>
                <a:ea typeface="나눔고딕" panose="020D0604000000000000"/>
              </a:rPr>
              <a:t>기반의 이중 통신 아키텍처를 적용하여</a:t>
            </a:r>
            <a:r>
              <a:rPr lang="en-US" altLang="ko-KR" sz="2000" dirty="0">
                <a:latin typeface="NanumGothic" panose="020D0604000000000000" pitchFamily="34" charset="-127"/>
                <a:ea typeface="나눔고딕" panose="020D0604000000000000"/>
              </a:rPr>
              <a:t>, </a:t>
            </a:r>
            <a:r>
              <a:rPr lang="ko-KR" altLang="en-US" sz="2000" dirty="0">
                <a:latin typeface="NanumGothic" panose="020D0604000000000000" pitchFamily="34" charset="-127"/>
                <a:ea typeface="나눔고딕" panose="020D0604000000000000"/>
              </a:rPr>
              <a:t>기존의 서버 왕복 방식 대비 통신 지연 시간을 확연히 단축했습니다</a:t>
            </a:r>
            <a:r>
              <a:rPr lang="en-US" altLang="ko-KR" sz="2000" dirty="0">
                <a:latin typeface="NanumGothic" panose="020D0604000000000000" pitchFamily="34" charset="-127"/>
                <a:ea typeface="나눔고딕" panose="020D0604000000000000"/>
              </a:rPr>
              <a:t>.</a:t>
            </a: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ko-KR" altLang="en-US" sz="2000" b="1" dirty="0">
                <a:latin typeface="NanumGothic" panose="020D0604000000000000" pitchFamily="34" charset="-127"/>
                <a:ea typeface="나눔고딕" panose="020D0604000000000000"/>
              </a:rPr>
              <a:t>통합된 작업 환경 제공</a:t>
            </a:r>
            <a:r>
              <a:rPr lang="en-US" altLang="ko-KR" sz="2000" b="1" dirty="0">
                <a:latin typeface="NanumGothic" panose="020D0604000000000000" pitchFamily="34" charset="-127"/>
                <a:ea typeface="나눔고딕" panose="020D0604000000000000"/>
              </a:rPr>
              <a:t>:</a:t>
            </a:r>
            <a:r>
              <a:rPr lang="ko-KR" altLang="en-US" sz="2000" dirty="0">
                <a:latin typeface="NanumGothic" panose="020D0604000000000000" pitchFamily="34" charset="-127"/>
                <a:ea typeface="나눔고딕" panose="020D0604000000000000"/>
              </a:rPr>
              <a:t> 화상 회의와 캔버스 작업을 하나의 플랫폼에서 처리하도록 통합하여</a:t>
            </a:r>
            <a:r>
              <a:rPr lang="en-US" altLang="ko-KR" sz="2000" dirty="0">
                <a:latin typeface="NanumGothic" panose="020D0604000000000000" pitchFamily="34" charset="-127"/>
                <a:ea typeface="나눔고딕" panose="020D0604000000000000"/>
              </a:rPr>
              <a:t>, </a:t>
            </a:r>
            <a:r>
              <a:rPr lang="ko-KR" altLang="en-US" sz="2000" dirty="0">
                <a:latin typeface="NanumGothic" panose="020D0604000000000000" pitchFamily="34" charset="-127"/>
                <a:ea typeface="나눔고딕" panose="020D0604000000000000"/>
              </a:rPr>
              <a:t>여러 도구를 전환하는 데 소요되던 불필요한 시간과 불편함을 해소했습니다</a:t>
            </a:r>
            <a:r>
              <a:rPr lang="en-US" altLang="ko-KR" sz="2000" dirty="0">
                <a:latin typeface="NanumGothic" panose="020D0604000000000000" pitchFamily="34" charset="-127"/>
                <a:ea typeface="나눔고딕" panose="020D0604000000000000"/>
              </a:rPr>
              <a:t>.</a:t>
            </a: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ko-KR" altLang="en-US" sz="2000" b="1" dirty="0">
                <a:latin typeface="NanumGothic" panose="020D0604000000000000" pitchFamily="34" charset="-127"/>
                <a:ea typeface="나눔고딕" panose="020D0604000000000000"/>
              </a:rPr>
              <a:t>안정성 및 확장성 확보</a:t>
            </a:r>
            <a:r>
              <a:rPr lang="en-US" altLang="ko-KR" sz="2000" b="1" dirty="0">
                <a:latin typeface="NanumGothic" panose="020D0604000000000000" pitchFamily="34" charset="-127"/>
                <a:ea typeface="나눔고딕" panose="020D0604000000000000"/>
              </a:rPr>
              <a:t>:</a:t>
            </a:r>
            <a:r>
              <a:rPr lang="ko-KR" altLang="en-US" sz="2000" dirty="0">
                <a:latin typeface="NanumGothic" panose="020D0604000000000000" pitchFamily="34" charset="-127"/>
                <a:ea typeface="나눔고딕" panose="020D0604000000000000"/>
              </a:rPr>
              <a:t> </a:t>
            </a:r>
            <a:r>
              <a:rPr lang="en" altLang="ko-KR" sz="2000" dirty="0">
                <a:latin typeface="NanumGothic" panose="020D0604000000000000" pitchFamily="34" charset="-127"/>
                <a:ea typeface="나눔고딕" panose="020D0604000000000000"/>
              </a:rPr>
              <a:t>AWS</a:t>
            </a:r>
            <a:r>
              <a:rPr lang="ko-KR" altLang="en-US" sz="2000" dirty="0">
                <a:latin typeface="NanumGothic" panose="020D0604000000000000" pitchFamily="34" charset="-127"/>
                <a:ea typeface="나눔고딕" panose="020D0604000000000000"/>
              </a:rPr>
              <a:t>와 </a:t>
            </a:r>
            <a:r>
              <a:rPr lang="en" altLang="ko-KR" sz="2000" dirty="0">
                <a:latin typeface="NanumGothic" panose="020D0604000000000000" pitchFamily="34" charset="-127"/>
                <a:ea typeface="나눔고딕" panose="020D0604000000000000"/>
              </a:rPr>
              <a:t>Docker </a:t>
            </a:r>
            <a:r>
              <a:rPr lang="ko-KR" altLang="en-US" sz="2000" dirty="0">
                <a:latin typeface="NanumGothic" panose="020D0604000000000000" pitchFamily="34" charset="-127"/>
                <a:ea typeface="나눔고딕" panose="020D0604000000000000"/>
              </a:rPr>
              <a:t>기반의 마이크로서비스 아키텍처를 구축하여 서비스의 안정성과 확장성을 보장했습니다</a:t>
            </a:r>
            <a:r>
              <a:rPr lang="en-US" altLang="ko-KR" sz="2000" dirty="0">
                <a:latin typeface="NanumGothic" panose="020D0604000000000000" pitchFamily="34" charset="-127"/>
                <a:ea typeface="나눔고딕" panose="020D0604000000000000"/>
              </a:rPr>
              <a:t>. </a:t>
            </a:r>
            <a:r>
              <a:rPr lang="ko-KR" altLang="en-US" sz="2000" dirty="0">
                <a:latin typeface="NanumGothic" panose="020D0604000000000000" pitchFamily="34" charset="-127"/>
                <a:ea typeface="나눔고딕" panose="020D0604000000000000"/>
              </a:rPr>
              <a:t>이는 향후 추가적인 기능 확장을 위한 기반이 됩니다</a:t>
            </a:r>
            <a:r>
              <a:rPr lang="en-US" altLang="ko-KR" sz="2000" dirty="0">
                <a:latin typeface="NanumGothic" panose="020D0604000000000000" pitchFamily="34" charset="-127"/>
                <a:ea typeface="나눔고딕" panose="020D0604000000000000"/>
              </a:rPr>
              <a:t>.</a:t>
            </a: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ko-KR" altLang="en-US" sz="2000" b="1" dirty="0">
                <a:latin typeface="NanumGothic" panose="020D0604000000000000" pitchFamily="34" charset="-127"/>
                <a:ea typeface="나눔고딕" panose="020D0604000000000000"/>
              </a:rPr>
              <a:t>새로운 협업 모델 제시</a:t>
            </a:r>
            <a:r>
              <a:rPr lang="en-US" altLang="ko-KR" sz="2000" b="1" dirty="0">
                <a:latin typeface="NanumGothic" panose="020D0604000000000000" pitchFamily="34" charset="-127"/>
                <a:ea typeface="나눔고딕" panose="020D0604000000000000"/>
              </a:rPr>
              <a:t>:</a:t>
            </a:r>
            <a:r>
              <a:rPr lang="ko-KR" altLang="en-US" sz="2000" dirty="0">
                <a:latin typeface="NanumGothic" panose="020D0604000000000000" pitchFamily="34" charset="-127"/>
                <a:ea typeface="나눔고딕" panose="020D0604000000000000"/>
              </a:rPr>
              <a:t> 본 플랫폼은 정적인 문서 기반 협업의 패러다임을 넘어</a:t>
            </a:r>
            <a:r>
              <a:rPr lang="en-US" altLang="ko-KR" sz="2000" dirty="0">
                <a:latin typeface="NanumGothic" panose="020D0604000000000000" pitchFamily="34" charset="-127"/>
                <a:ea typeface="나눔고딕" panose="020D0604000000000000"/>
              </a:rPr>
              <a:t>, </a:t>
            </a:r>
            <a:r>
              <a:rPr lang="ko-KR" altLang="en-US" sz="2000" dirty="0" err="1">
                <a:latin typeface="NanumGothic" panose="020D0604000000000000" pitchFamily="34" charset="-127"/>
                <a:ea typeface="나눔고딕" panose="020D0604000000000000"/>
              </a:rPr>
              <a:t>실시간성과</a:t>
            </a:r>
            <a:r>
              <a:rPr lang="ko-KR" altLang="en-US" sz="2000" dirty="0">
                <a:latin typeface="NanumGothic" panose="020D0604000000000000" pitchFamily="34" charset="-127"/>
                <a:ea typeface="나눔고딕" panose="020D0604000000000000"/>
              </a:rPr>
              <a:t> </a:t>
            </a:r>
            <a:r>
              <a:rPr lang="ko-KR" altLang="en-US" sz="2000" dirty="0" err="1">
                <a:latin typeface="NanumGothic" panose="020D0604000000000000" pitchFamily="34" charset="-127"/>
                <a:ea typeface="나눔고딕" panose="020D0604000000000000"/>
              </a:rPr>
              <a:t>자유도를</a:t>
            </a:r>
            <a:r>
              <a:rPr lang="ko-KR" altLang="en-US" sz="2000" dirty="0">
                <a:latin typeface="NanumGothic" panose="020D0604000000000000" pitchFamily="34" charset="-127"/>
                <a:ea typeface="나눔고딕" panose="020D0604000000000000"/>
              </a:rPr>
              <a:t> 핵심 가치로 하는 새로운 원격 협업 솔루션의 표준 모델을 제시합니다</a:t>
            </a:r>
            <a:r>
              <a:rPr lang="en-US" altLang="ko-KR" sz="2000" dirty="0">
                <a:latin typeface="NanumGothic" panose="020D0604000000000000" pitchFamily="34" charset="-127"/>
                <a:ea typeface="나눔고딕" panose="020D0604000000000000"/>
              </a:rPr>
              <a:t>.</a:t>
            </a:r>
            <a:endParaRPr lang="ko-KR" altLang="en-US" sz="2000" dirty="0">
              <a:latin typeface="NanumGothic" panose="020D0604000000000000" pitchFamily="34" charset="-127"/>
              <a:ea typeface="나눔고딕" panose="020D0604000000000000"/>
            </a:endParaRPr>
          </a:p>
          <a:p>
            <a:pPr marL="0" lvl="1">
              <a:lnSpc>
                <a:spcPct val="120000"/>
              </a:lnSpc>
            </a:pPr>
            <a:endParaRPr lang="en-US" altLang="ko-KR" sz="2000" spc="-15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50" charset="-127"/>
              <a:ea typeface="나눔고딕" panose="020D0604000000000000"/>
              <a:cs typeface="Arial" panose="020B0604020202020204" pitchFamily="34" charset="0"/>
            </a:endParaRPr>
          </a:p>
        </p:txBody>
      </p:sp>
      <p:sp>
        <p:nvSpPr>
          <p:cNvPr id="17" name="모서리가 둥근 직사각형 81">
            <a:extLst>
              <a:ext uri="{FF2B5EF4-FFF2-40B4-BE49-F238E27FC236}">
                <a16:creationId xmlns:a16="http://schemas.microsoft.com/office/drawing/2014/main" id="{2141F1AA-2EDA-B789-8669-AB944F328CA7}"/>
              </a:ext>
            </a:extLst>
          </p:cNvPr>
          <p:cNvSpPr/>
          <p:nvPr/>
        </p:nvSpPr>
        <p:spPr>
          <a:xfrm>
            <a:off x="1609533" y="12816801"/>
            <a:ext cx="7748236" cy="5077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91213" tIns="45607" rIns="91213" bIns="45607" numCol="1" anchor="ctr" anchorCtr="0" compatLnSpc="1">
            <a:prstTxWarp prst="textNoShape">
              <a:avLst/>
            </a:prstTxWarp>
          </a:bodyPr>
          <a:lstStyle/>
          <a:p>
            <a:pPr algn="ctr" defTabSz="864943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800" b="1" spc="-49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시스템 아키텍처</a:t>
            </a:r>
            <a:endParaRPr lang="ko-KR" altLang="en-US" sz="2800" b="1" spc="-49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</p:txBody>
      </p:sp>
      <p:sp>
        <p:nvSpPr>
          <p:cNvPr id="279" name="직사각형 278">
            <a:extLst>
              <a:ext uri="{FF2B5EF4-FFF2-40B4-BE49-F238E27FC236}">
                <a16:creationId xmlns:a16="http://schemas.microsoft.com/office/drawing/2014/main" id="{16B7D3A3-CF1E-E93D-336B-008C669E04FE}"/>
              </a:ext>
            </a:extLst>
          </p:cNvPr>
          <p:cNvSpPr/>
          <p:nvPr/>
        </p:nvSpPr>
        <p:spPr>
          <a:xfrm>
            <a:off x="686376" y="8769123"/>
            <a:ext cx="9723171" cy="2287418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ko-KR" sz="2000" dirty="0">
                <a:ea typeface="나눔고딕" panose="020D0604000000000000"/>
              </a:rPr>
              <a:t>BlankSync</a:t>
            </a:r>
            <a:r>
              <a:rPr lang="ko-KR" altLang="en-US" sz="2000" dirty="0">
                <a:ea typeface="나눔고딕" panose="020D0604000000000000"/>
              </a:rPr>
              <a:t>는 기존의 분산되고 정적인 협업 환경의 비효율성을 해소하고</a:t>
            </a:r>
            <a:r>
              <a:rPr lang="en-US" altLang="ko-KR" sz="2000" dirty="0">
                <a:ea typeface="나눔고딕" panose="020D0604000000000000"/>
              </a:rPr>
              <a:t>, </a:t>
            </a:r>
            <a:r>
              <a:rPr lang="ko-KR" altLang="en-US" sz="2000" dirty="0">
                <a:ea typeface="나눔고딕" panose="020D0604000000000000"/>
              </a:rPr>
              <a:t>최적의 </a:t>
            </a:r>
            <a:r>
              <a:rPr lang="ko-KR" altLang="en-US" sz="2000" dirty="0" err="1">
                <a:ea typeface="나눔고딕" panose="020D0604000000000000"/>
              </a:rPr>
              <a:t>몰입형</a:t>
            </a:r>
            <a:r>
              <a:rPr lang="ko-KR" altLang="en-US" sz="2000" dirty="0">
                <a:ea typeface="나눔고딕" panose="020D0604000000000000"/>
              </a:rPr>
              <a:t> 원격 경을 제공하는 것을 목표로 합니다</a:t>
            </a:r>
            <a:r>
              <a:rPr lang="en-US" altLang="ko-KR" sz="2000" dirty="0">
                <a:ea typeface="나눔고딕" panose="020D0604000000000000"/>
              </a:rPr>
              <a:t>. WebRTC </a:t>
            </a:r>
            <a:r>
              <a:rPr lang="ko-KR" altLang="en-US" sz="2000" dirty="0">
                <a:ea typeface="나눔고딕" panose="020D0604000000000000"/>
              </a:rPr>
              <a:t>기반의 고품질 화상회의와 </a:t>
            </a:r>
            <a:r>
              <a:rPr lang="en-US" altLang="ko-KR" sz="2000" dirty="0">
                <a:ea typeface="나눔고딕" panose="020D0604000000000000"/>
              </a:rPr>
              <a:t>Socket.io </a:t>
            </a:r>
            <a:r>
              <a:rPr lang="ko-KR" altLang="en-US" sz="2000" dirty="0">
                <a:ea typeface="나눔고딕" panose="020D0604000000000000"/>
              </a:rPr>
              <a:t>기반의 캔버스 동기화 기능을 단일 플랫폼에 완벽하게 통합하며 사용자가 캔버스 내에서 모든 요소를 자유롭게 배치하고 수정할 수 있을 것입니다</a:t>
            </a:r>
            <a:r>
              <a:rPr lang="en-US" altLang="ko-KR" sz="2000" dirty="0">
                <a:ea typeface="나눔고딕" panose="020D0604000000000000"/>
              </a:rPr>
              <a:t>. </a:t>
            </a:r>
            <a:r>
              <a:rPr lang="ko-KR" altLang="en-US" sz="2000" dirty="0">
                <a:ea typeface="나눔고딕" panose="020D0604000000000000"/>
              </a:rPr>
              <a:t>또한 </a:t>
            </a:r>
            <a:r>
              <a:rPr lang="en-US" altLang="ko-KR" sz="2000" dirty="0">
                <a:ea typeface="나눔고딕" panose="020D0604000000000000"/>
              </a:rPr>
              <a:t>AWS</a:t>
            </a:r>
            <a:r>
              <a:rPr lang="ko-KR" altLang="en-US" sz="2000" dirty="0">
                <a:ea typeface="나눔고딕" panose="020D0604000000000000"/>
              </a:rPr>
              <a:t>와 </a:t>
            </a:r>
            <a:r>
              <a:rPr lang="en-US" altLang="ko-KR" sz="2000" dirty="0">
                <a:ea typeface="나눔고딕" panose="020D0604000000000000"/>
              </a:rPr>
              <a:t>Docker </a:t>
            </a:r>
            <a:r>
              <a:rPr lang="ko-KR" altLang="en-US" sz="2000" dirty="0">
                <a:ea typeface="나눔고딕" panose="020D0604000000000000"/>
              </a:rPr>
              <a:t>기반의 안정적이고 확장 가능한 아키텍처를 구축하여</a:t>
            </a:r>
            <a:r>
              <a:rPr lang="en-US" altLang="ko-KR" sz="2000" dirty="0">
                <a:ea typeface="나눔고딕" panose="020D0604000000000000"/>
              </a:rPr>
              <a:t>, </a:t>
            </a:r>
            <a:r>
              <a:rPr lang="ko-KR" altLang="en-US" sz="2000" dirty="0">
                <a:ea typeface="나눔고딕" panose="020D0604000000000000"/>
              </a:rPr>
              <a:t>다수 사용자의 동시 접속 환경에서 서비스의 안정성을 입증합니다</a:t>
            </a:r>
            <a:r>
              <a:rPr lang="en-US" altLang="ko-KR" sz="2000" dirty="0">
                <a:ea typeface="나눔고딕" panose="020D0604000000000000"/>
              </a:rPr>
              <a:t>. </a:t>
            </a:r>
            <a:endParaRPr lang="en-US" altLang="ko-KR" sz="2000" spc="-15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50" charset="-127"/>
              <a:ea typeface="나눔고딕" panose="020D0604000000000000"/>
              <a:cs typeface="Arial" panose="020B0604020202020204" pitchFamily="34" charset="0"/>
            </a:endParaRPr>
          </a:p>
        </p:txBody>
      </p:sp>
      <p:sp>
        <p:nvSpPr>
          <p:cNvPr id="280" name="직사각형 279">
            <a:extLst>
              <a:ext uri="{FF2B5EF4-FFF2-40B4-BE49-F238E27FC236}">
                <a16:creationId xmlns:a16="http://schemas.microsoft.com/office/drawing/2014/main" id="{83EA64B3-16E8-0157-31B9-653B57B44993}"/>
              </a:ext>
            </a:extLst>
          </p:cNvPr>
          <p:cNvSpPr/>
          <p:nvPr/>
        </p:nvSpPr>
        <p:spPr>
          <a:xfrm>
            <a:off x="686376" y="18696097"/>
            <a:ext cx="9723171" cy="8517265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dirty="0">
                <a:latin typeface="궁서체" panose="02030609000101010101" pitchFamily="17" charset="-127"/>
                <a:ea typeface="나눔고딕" panose="020D0604000000000000"/>
              </a:rPr>
              <a:t>이 다이어그램은 </a:t>
            </a:r>
            <a:r>
              <a:rPr lang="en-US" altLang="ko-KR" sz="2000" dirty="0">
                <a:ea typeface="나눔고딕" panose="020D0604000000000000"/>
              </a:rPr>
              <a:t>WebRTC</a:t>
            </a:r>
            <a:r>
              <a:rPr lang="ko-KR" altLang="en-US" sz="2000" dirty="0">
                <a:latin typeface="궁서체" panose="02030609000101010101" pitchFamily="17" charset="-127"/>
                <a:ea typeface="나눔고딕" panose="020D0604000000000000"/>
              </a:rPr>
              <a:t>와 </a:t>
            </a:r>
            <a:r>
              <a:rPr lang="en-US" altLang="ko-KR" sz="2000" dirty="0">
                <a:ea typeface="나눔고딕" panose="020D0604000000000000"/>
              </a:rPr>
              <a:t>WebSocket </a:t>
            </a:r>
            <a:r>
              <a:rPr lang="ko-KR" altLang="en-US" sz="2000" dirty="0">
                <a:latin typeface="궁서체" panose="02030609000101010101" pitchFamily="17" charset="-127"/>
                <a:ea typeface="나눔고딕" panose="020D0604000000000000"/>
              </a:rPr>
              <a:t>기반의 이중 통신을 활용한 저희 </a:t>
            </a:r>
            <a:r>
              <a:rPr lang="en-US" altLang="ko-KR" sz="2000" dirty="0">
                <a:ea typeface="나눔고딕" panose="020D0604000000000000"/>
              </a:rPr>
              <a:t>BlankSynk</a:t>
            </a:r>
            <a:r>
              <a:rPr lang="en-US" altLang="ko-KR" sz="2000" dirty="0">
                <a:latin typeface="궁서체" panose="02030609000101010101" pitchFamily="17" charset="-127"/>
                <a:ea typeface="나눔고딕" panose="020D0604000000000000"/>
              </a:rPr>
              <a:t> </a:t>
            </a:r>
            <a:r>
              <a:rPr lang="ko-KR" altLang="en-US" sz="2000" dirty="0">
                <a:latin typeface="궁서체" panose="02030609000101010101" pitchFamily="17" charset="-127"/>
                <a:ea typeface="나눔고딕" panose="020D0604000000000000"/>
              </a:rPr>
              <a:t>플랫폼의 마이크로 서비스 아키텍처를 보여줍니다</a:t>
            </a:r>
            <a:r>
              <a:rPr lang="en-US" altLang="ko-KR" sz="2000" dirty="0">
                <a:latin typeface="궁서체" panose="02030609000101010101" pitchFamily="17" charset="-127"/>
                <a:ea typeface="나눔고딕" panose="020D0604000000000000"/>
              </a:rPr>
              <a:t>.</a:t>
            </a:r>
          </a:p>
          <a:p>
            <a:pPr>
              <a:lnSpc>
                <a:spcPct val="120000"/>
              </a:lnSpc>
            </a:pPr>
            <a:endParaRPr lang="ko-KR" altLang="en-US" sz="2000" dirty="0">
              <a:latin typeface="궁서체" panose="02030609000101010101" pitchFamily="17" charset="-127"/>
              <a:ea typeface="나눔고딕" panose="020D0604000000000000"/>
            </a:endParaRPr>
          </a:p>
          <a:p>
            <a:pPr>
              <a:lnSpc>
                <a:spcPct val="120000"/>
              </a:lnSpc>
            </a:pPr>
            <a:r>
              <a:rPr lang="ko-KR" altLang="en-US" sz="2000" b="1" dirty="0" err="1">
                <a:latin typeface="궁서체" panose="02030609000101010101" pitchFamily="17" charset="-127"/>
                <a:ea typeface="나눔고딕" panose="020D0604000000000000"/>
              </a:rPr>
              <a:t>프론트엔드</a:t>
            </a:r>
            <a:r>
              <a:rPr lang="ko-KR" altLang="en-US" sz="2000" b="1" dirty="0">
                <a:latin typeface="궁서체" panose="02030609000101010101" pitchFamily="17" charset="-127"/>
                <a:ea typeface="나눔고딕" panose="020D0604000000000000"/>
              </a:rPr>
              <a:t> 및 미디어 통신 </a:t>
            </a:r>
            <a:r>
              <a:rPr lang="en-US" altLang="ko-KR" sz="2000" b="1" dirty="0">
                <a:latin typeface="궁서체" panose="02030609000101010101" pitchFamily="17" charset="-127"/>
                <a:ea typeface="나눔고딕" panose="020D0604000000000000"/>
              </a:rPr>
              <a:t>(</a:t>
            </a:r>
            <a:r>
              <a:rPr lang="en-US" altLang="ko-KR" sz="2000" b="1" dirty="0">
                <a:ea typeface="나눔고딕" panose="020D0604000000000000"/>
              </a:rPr>
              <a:t>WebRTC</a:t>
            </a:r>
            <a:r>
              <a:rPr lang="en-US" altLang="ko-KR" sz="2000" b="1" dirty="0">
                <a:latin typeface="궁서체" panose="02030609000101010101" pitchFamily="17" charset="-127"/>
                <a:ea typeface="나눔고딕" panose="020D0604000000000000"/>
              </a:rPr>
              <a:t>) </a:t>
            </a: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ko-KR" altLang="en-US" sz="2000" dirty="0" err="1">
                <a:latin typeface="궁서체" panose="02030609000101010101" pitchFamily="17" charset="-127"/>
                <a:ea typeface="나눔고딕" panose="020D0604000000000000"/>
              </a:rPr>
              <a:t>프론트엔드</a:t>
            </a:r>
            <a:r>
              <a:rPr lang="ko-KR" altLang="en-US" sz="2000" dirty="0">
                <a:latin typeface="궁서체" panose="02030609000101010101" pitchFamily="17" charset="-127"/>
                <a:ea typeface="나눔고딕" panose="020D0604000000000000"/>
              </a:rPr>
              <a:t> </a:t>
            </a:r>
            <a:r>
              <a:rPr lang="en-US" altLang="ko-KR" sz="2000" dirty="0">
                <a:latin typeface="궁서체" panose="02030609000101010101" pitchFamily="17" charset="-127"/>
                <a:ea typeface="나눔고딕" panose="020D0604000000000000"/>
              </a:rPr>
              <a:t>: </a:t>
            </a:r>
            <a:r>
              <a:rPr lang="ko-KR" altLang="en-US" sz="2000" dirty="0">
                <a:latin typeface="궁서체" panose="02030609000101010101" pitchFamily="17" charset="-127"/>
                <a:ea typeface="나눔고딕" panose="020D0604000000000000"/>
              </a:rPr>
              <a:t>사용자 인터페이스는 </a:t>
            </a:r>
            <a:r>
              <a:rPr lang="en-US" altLang="ko-KR" sz="2000" dirty="0">
                <a:ea typeface="나눔고딕" panose="020D0604000000000000"/>
              </a:rPr>
              <a:t>React</a:t>
            </a:r>
            <a:r>
              <a:rPr lang="ko-KR" altLang="en-US" sz="2000" dirty="0">
                <a:latin typeface="궁서체" panose="02030609000101010101" pitchFamily="17" charset="-127"/>
                <a:ea typeface="나눔고딕" panose="020D0604000000000000"/>
              </a:rPr>
              <a:t>로 개발되었으며</a:t>
            </a:r>
            <a:r>
              <a:rPr lang="en-US" altLang="ko-KR" sz="2000" dirty="0">
                <a:latin typeface="궁서체" panose="02030609000101010101" pitchFamily="17" charset="-127"/>
                <a:ea typeface="나눔고딕" panose="020D0604000000000000"/>
              </a:rPr>
              <a:t>, </a:t>
            </a:r>
            <a:r>
              <a:rPr lang="ko-KR" altLang="en-US" sz="2000" dirty="0">
                <a:latin typeface="궁서체" panose="02030609000101010101" pitchFamily="17" charset="-127"/>
                <a:ea typeface="나눔고딕" panose="020D0604000000000000"/>
              </a:rPr>
              <a:t>사용자 경험</a:t>
            </a:r>
            <a:r>
              <a:rPr lang="en-US" altLang="ko-KR" sz="2000" dirty="0">
                <a:latin typeface="궁서체" panose="02030609000101010101" pitchFamily="17" charset="-127"/>
                <a:ea typeface="나눔고딕" panose="020D0604000000000000"/>
              </a:rPr>
              <a:t>(</a:t>
            </a:r>
            <a:r>
              <a:rPr lang="en-US" altLang="ko-KR" sz="2000" dirty="0">
                <a:ea typeface="나눔고딕" panose="020D0604000000000000"/>
              </a:rPr>
              <a:t>UX</a:t>
            </a:r>
            <a:r>
              <a:rPr lang="en-US" altLang="ko-KR" sz="2000" dirty="0">
                <a:latin typeface="궁서체" panose="02030609000101010101" pitchFamily="17" charset="-127"/>
                <a:ea typeface="나눔고딕" panose="020D0604000000000000"/>
              </a:rPr>
              <a:t>)</a:t>
            </a:r>
            <a:r>
              <a:rPr lang="ko-KR" altLang="en-US" sz="2000" dirty="0">
                <a:latin typeface="궁서체" panose="02030609000101010101" pitchFamily="17" charset="-127"/>
                <a:ea typeface="나눔고딕" panose="020D0604000000000000"/>
              </a:rPr>
              <a:t>을 최적화했습니다</a:t>
            </a:r>
            <a:r>
              <a:rPr lang="en-US" altLang="ko-KR" sz="2000" dirty="0">
                <a:latin typeface="궁서체" panose="02030609000101010101" pitchFamily="17" charset="-127"/>
                <a:ea typeface="나눔고딕" panose="020D0604000000000000"/>
              </a:rPr>
              <a:t>.</a:t>
            </a: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en-US" altLang="ko-KR" sz="2000" dirty="0">
                <a:ea typeface="나눔고딕" panose="020D0604000000000000"/>
              </a:rPr>
              <a:t>WebSocket (Socket.io): </a:t>
            </a:r>
            <a:r>
              <a:rPr lang="ko-KR" altLang="en-US" sz="2000" dirty="0">
                <a:ea typeface="나눔고딕" panose="020D0604000000000000"/>
              </a:rPr>
              <a:t>캔버스 객체 동기화</a:t>
            </a:r>
            <a:r>
              <a:rPr lang="en-US" altLang="ko-KR" sz="2000" dirty="0">
                <a:ea typeface="나눔고딕" panose="020D0604000000000000"/>
              </a:rPr>
              <a:t>, </a:t>
            </a:r>
            <a:r>
              <a:rPr lang="ko-KR" altLang="en-US" sz="2000" dirty="0">
                <a:ea typeface="나눔고딕" panose="020D0604000000000000"/>
              </a:rPr>
              <a:t>캘린더 일정 관리</a:t>
            </a:r>
            <a:r>
              <a:rPr lang="en-US" altLang="ko-KR" sz="2000" dirty="0">
                <a:ea typeface="나눔고딕" panose="020D0604000000000000"/>
              </a:rPr>
              <a:t>, </a:t>
            </a:r>
            <a:r>
              <a:rPr lang="ko-KR" altLang="en-US" sz="2000" dirty="0">
                <a:ea typeface="나눔고딕" panose="020D0604000000000000"/>
              </a:rPr>
              <a:t>사용자 인증 등 안정성과 속도가 중요한 데이터는 </a:t>
            </a:r>
            <a:r>
              <a:rPr lang="en-US" altLang="ko-KR" sz="2000" dirty="0">
                <a:ea typeface="나눔고딕" panose="020D0604000000000000"/>
              </a:rPr>
              <a:t>Node.js </a:t>
            </a:r>
            <a:r>
              <a:rPr lang="ko-KR" altLang="en-US" sz="2000" dirty="0">
                <a:ea typeface="나눔고딕" panose="020D0604000000000000"/>
              </a:rPr>
              <a:t>기반의 전용 서버가 담당합니다</a:t>
            </a:r>
            <a:r>
              <a:rPr lang="en-US" altLang="ko-KR" sz="2000" dirty="0">
                <a:ea typeface="나눔고딕" panose="020D0604000000000000"/>
              </a:rPr>
              <a:t>. </a:t>
            </a:r>
            <a:r>
              <a:rPr lang="ko-KR" altLang="en-US" sz="2000" dirty="0">
                <a:ea typeface="나눔고딕" panose="020D0604000000000000"/>
              </a:rPr>
              <a:t>연결을 지속적으로 유지하여 모든 접속자에게 지연 없이 데이터를 즉시 전달합니다</a:t>
            </a:r>
            <a:r>
              <a:rPr lang="en-US" altLang="ko-KR" sz="2000" dirty="0">
                <a:ea typeface="나눔고딕" panose="020D0604000000000000"/>
              </a:rPr>
              <a:t>.</a:t>
            </a:r>
          </a:p>
          <a:p>
            <a:pPr>
              <a:lnSpc>
                <a:spcPct val="120000"/>
              </a:lnSpc>
            </a:pPr>
            <a:endParaRPr lang="ko-KR" altLang="en-US" sz="2000" b="1" dirty="0">
              <a:ea typeface="나눔고딕" panose="020D0604000000000000"/>
            </a:endParaRPr>
          </a:p>
          <a:p>
            <a:pPr>
              <a:lnSpc>
                <a:spcPct val="120000"/>
              </a:lnSpc>
            </a:pPr>
            <a:r>
              <a:rPr lang="ko-KR" altLang="en-US" sz="2000" b="1" dirty="0" err="1">
                <a:ea typeface="나눔고딕" panose="020D0604000000000000"/>
              </a:rPr>
              <a:t>백엔드</a:t>
            </a:r>
            <a:r>
              <a:rPr lang="ko-KR" altLang="en-US" sz="2000" b="1" dirty="0">
                <a:ea typeface="나눔고딕" panose="020D0604000000000000"/>
              </a:rPr>
              <a:t> 및 이중 통신 프로토콜 </a:t>
            </a:r>
            <a:r>
              <a:rPr lang="en-US" altLang="ko-KR" sz="2000" b="1" dirty="0">
                <a:ea typeface="나눔고딕" panose="020D0604000000000000"/>
              </a:rPr>
              <a:t>(WebSocket &amp; API)</a:t>
            </a: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ko-KR" altLang="en-US" sz="2000" dirty="0">
                <a:ea typeface="나눔고딕" panose="020D0604000000000000"/>
              </a:rPr>
              <a:t>실시간 데이터 </a:t>
            </a:r>
            <a:r>
              <a:rPr lang="en-US" altLang="ko-KR" sz="2000" dirty="0">
                <a:ea typeface="나눔고딕" panose="020D0604000000000000"/>
              </a:rPr>
              <a:t>: Express.js(Node.js) </a:t>
            </a:r>
            <a:r>
              <a:rPr lang="ko-KR" altLang="en-US" sz="2000" dirty="0">
                <a:ea typeface="나눔고딕" panose="020D0604000000000000"/>
              </a:rPr>
              <a:t>기반의 전용 서버에서 </a:t>
            </a:r>
            <a:r>
              <a:rPr lang="en-US" altLang="ko-KR" sz="2000" dirty="0">
                <a:ea typeface="나눔고딕" panose="020D0604000000000000"/>
              </a:rPr>
              <a:t>WebSocket</a:t>
            </a:r>
            <a:r>
              <a:rPr lang="ko-KR" altLang="en-US" sz="2000" dirty="0">
                <a:ea typeface="나눔고딕" panose="020D0604000000000000"/>
              </a:rPr>
              <a:t>을 활용해 캔버스 동기화</a:t>
            </a:r>
            <a:r>
              <a:rPr lang="en-US" altLang="ko-KR" sz="2000" dirty="0">
                <a:ea typeface="나눔고딕" panose="020D0604000000000000"/>
              </a:rPr>
              <a:t>, </a:t>
            </a:r>
            <a:r>
              <a:rPr lang="ko-KR" altLang="en-US" sz="2000" dirty="0">
                <a:ea typeface="나눔고딕" panose="020D0604000000000000"/>
              </a:rPr>
              <a:t>캘린더 공유 등을 담당합니다</a:t>
            </a:r>
            <a:r>
              <a:rPr lang="en-US" altLang="ko-KR" sz="2000" dirty="0">
                <a:ea typeface="나눔고딕" panose="020D0604000000000000"/>
              </a:rPr>
              <a:t>. </a:t>
            </a:r>
            <a:r>
              <a:rPr lang="ko-KR" altLang="en-US" sz="2000" dirty="0">
                <a:ea typeface="나눔고딕" panose="020D0604000000000000"/>
              </a:rPr>
              <a:t>클라이언트와의 연결을 유지하여 지연 없이 데이터를 즉시 전달합니다</a:t>
            </a:r>
            <a:r>
              <a:rPr lang="en-US" altLang="ko-KR" sz="2000" dirty="0">
                <a:ea typeface="나눔고딕" panose="020D0604000000000000"/>
              </a:rPr>
              <a:t>.</a:t>
            </a:r>
            <a:endParaRPr lang="ko-KR" altLang="en-US" sz="2000" dirty="0">
              <a:ea typeface="나눔고딕" panose="020D0604000000000000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ko-KR" altLang="en-US" sz="2000" dirty="0">
                <a:ea typeface="나눔고딕" panose="020D0604000000000000"/>
              </a:rPr>
              <a:t>비즈니스 </a:t>
            </a:r>
            <a:r>
              <a:rPr lang="ko-KR" altLang="en-US" sz="2000" dirty="0" err="1">
                <a:ea typeface="나눔고딕" panose="020D0604000000000000"/>
              </a:rPr>
              <a:t>로직</a:t>
            </a:r>
            <a:r>
              <a:rPr lang="ko-KR" altLang="en-US" sz="2000" dirty="0">
                <a:ea typeface="나눔고딕" panose="020D0604000000000000"/>
              </a:rPr>
              <a:t> </a:t>
            </a:r>
            <a:r>
              <a:rPr lang="en-US" altLang="ko-KR" sz="2000" dirty="0">
                <a:ea typeface="나눔고딕" panose="020D0604000000000000"/>
              </a:rPr>
              <a:t>: Spring Boot </a:t>
            </a:r>
            <a:r>
              <a:rPr lang="ko-KR" altLang="en-US" sz="2000" dirty="0">
                <a:ea typeface="나눔고딕" panose="020D0604000000000000"/>
              </a:rPr>
              <a:t>서버는 사용자 인증</a:t>
            </a:r>
            <a:r>
              <a:rPr lang="en-US" altLang="ko-KR" sz="2000" dirty="0">
                <a:ea typeface="나눔고딕" panose="020D0604000000000000"/>
              </a:rPr>
              <a:t>, </a:t>
            </a:r>
            <a:r>
              <a:rPr lang="ko-KR" altLang="en-US" sz="2000" dirty="0">
                <a:ea typeface="나눔고딕" panose="020D0604000000000000"/>
              </a:rPr>
              <a:t>캘린더 관리</a:t>
            </a:r>
            <a:r>
              <a:rPr lang="en-US" altLang="ko-KR" sz="2000" dirty="0">
                <a:ea typeface="나눔고딕" panose="020D0604000000000000"/>
              </a:rPr>
              <a:t>, </a:t>
            </a:r>
            <a:r>
              <a:rPr lang="ko-KR" altLang="en-US" sz="2000" dirty="0">
                <a:ea typeface="나눔고딕" panose="020D0604000000000000"/>
              </a:rPr>
              <a:t>기여도 분석 등 핵심 비즈니스 </a:t>
            </a:r>
            <a:r>
              <a:rPr lang="ko-KR" altLang="en-US" sz="2000" dirty="0" err="1">
                <a:ea typeface="나눔고딕" panose="020D0604000000000000"/>
              </a:rPr>
              <a:t>로직을</a:t>
            </a:r>
            <a:r>
              <a:rPr lang="ko-KR" altLang="en-US" sz="2000" dirty="0">
                <a:ea typeface="나눔고딕" panose="020D0604000000000000"/>
              </a:rPr>
              <a:t> 처리하며 클라이언트의 </a:t>
            </a:r>
            <a:r>
              <a:rPr lang="en-US" altLang="ko-KR" sz="2000" dirty="0">
                <a:ea typeface="나눔고딕" panose="020D0604000000000000"/>
              </a:rPr>
              <a:t>REST API </a:t>
            </a:r>
            <a:r>
              <a:rPr lang="ko-KR" altLang="en-US" sz="2000" dirty="0">
                <a:ea typeface="나눔고딕" panose="020D0604000000000000"/>
              </a:rPr>
              <a:t>요청에 응답합니다</a:t>
            </a:r>
            <a:r>
              <a:rPr lang="en-US" altLang="ko-KR" sz="2000" dirty="0">
                <a:ea typeface="나눔고딕" panose="020D0604000000000000"/>
              </a:rPr>
              <a:t>.</a:t>
            </a:r>
          </a:p>
          <a:p>
            <a:pPr>
              <a:lnSpc>
                <a:spcPct val="120000"/>
              </a:lnSpc>
            </a:pPr>
            <a:endParaRPr lang="ko-KR" altLang="en-US" sz="2000" dirty="0">
              <a:ea typeface="나눔고딕" panose="020D0604000000000000"/>
            </a:endParaRPr>
          </a:p>
          <a:p>
            <a:pPr>
              <a:lnSpc>
                <a:spcPct val="120000"/>
              </a:lnSpc>
            </a:pPr>
            <a:r>
              <a:rPr lang="ko-KR" altLang="en-US" sz="2000" b="1" dirty="0" err="1">
                <a:ea typeface="나눔고딕" panose="020D0604000000000000"/>
              </a:rPr>
              <a:t>클라우드</a:t>
            </a:r>
            <a:r>
              <a:rPr lang="ko-KR" altLang="en-US" sz="2000" b="1" dirty="0">
                <a:ea typeface="나눔고딕" panose="020D0604000000000000"/>
              </a:rPr>
              <a:t> 및 데이터베이스 환경 </a:t>
            </a: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ko-KR" altLang="en-US" sz="2000" dirty="0" err="1">
                <a:ea typeface="나눔고딕" panose="020D0604000000000000"/>
              </a:rPr>
              <a:t>클라우드</a:t>
            </a:r>
            <a:r>
              <a:rPr lang="ko-KR" altLang="en-US" sz="2000" dirty="0">
                <a:ea typeface="나눔고딕" panose="020D0604000000000000"/>
              </a:rPr>
              <a:t> 환경 </a:t>
            </a:r>
            <a:r>
              <a:rPr lang="en-US" altLang="ko-KR" sz="2000" dirty="0">
                <a:ea typeface="나눔고딕" panose="020D0604000000000000"/>
              </a:rPr>
              <a:t>: </a:t>
            </a:r>
            <a:r>
              <a:rPr lang="ko-KR" altLang="en-US" sz="2000" dirty="0">
                <a:ea typeface="나눔고딕" panose="020D0604000000000000"/>
              </a:rPr>
              <a:t>모든 서비스는 </a:t>
            </a:r>
            <a:r>
              <a:rPr lang="en-US" altLang="ko-KR" sz="2000" dirty="0">
                <a:ea typeface="나눔고딕" panose="020D0604000000000000"/>
              </a:rPr>
              <a:t>AWS </a:t>
            </a:r>
            <a:r>
              <a:rPr lang="ko-KR" altLang="en-US" sz="2000" dirty="0">
                <a:ea typeface="나눔고딕" panose="020D0604000000000000"/>
              </a:rPr>
              <a:t>기반의 </a:t>
            </a:r>
            <a:r>
              <a:rPr lang="en-US" altLang="ko-KR" sz="2000" dirty="0">
                <a:ea typeface="나눔고딕" panose="020D0604000000000000"/>
              </a:rPr>
              <a:t>Amazon EC2 </a:t>
            </a:r>
            <a:r>
              <a:rPr lang="ko-KR" altLang="en-US" sz="2000" dirty="0">
                <a:ea typeface="나눔고딕" panose="020D0604000000000000"/>
              </a:rPr>
              <a:t>인스턴스 위에서 구동됩니다</a:t>
            </a:r>
            <a:r>
              <a:rPr lang="en-US" altLang="ko-KR" sz="2000" dirty="0">
                <a:ea typeface="나눔고딕" panose="020D060400000000000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2000" dirty="0">
                <a:ea typeface="나눔고딕" panose="020D0604000000000000"/>
              </a:rPr>
              <a:t>- </a:t>
            </a:r>
            <a:r>
              <a:rPr lang="ko-KR" altLang="en-US" sz="2000" dirty="0">
                <a:ea typeface="나눔고딕" panose="020D0604000000000000"/>
              </a:rPr>
              <a:t>컨테이너 관리 </a:t>
            </a:r>
            <a:r>
              <a:rPr lang="en-US" altLang="ko-KR" sz="2000" dirty="0">
                <a:ea typeface="나눔고딕" panose="020D0604000000000000"/>
              </a:rPr>
              <a:t>: </a:t>
            </a:r>
            <a:r>
              <a:rPr lang="ko-KR" altLang="en-US" sz="2000" dirty="0">
                <a:ea typeface="나눔고딕" panose="020D0604000000000000"/>
              </a:rPr>
              <a:t>각 서버는 </a:t>
            </a:r>
            <a:r>
              <a:rPr lang="en-US" altLang="ko-KR" sz="2000" dirty="0">
                <a:ea typeface="나눔고딕" panose="020D0604000000000000"/>
              </a:rPr>
              <a:t>Docker </a:t>
            </a:r>
            <a:r>
              <a:rPr lang="ko-KR" altLang="en-US" sz="2000" dirty="0">
                <a:ea typeface="나눔고딕" panose="020D0604000000000000"/>
              </a:rPr>
              <a:t>컨테이너로 독립적으로 구성되어 있습니다</a:t>
            </a:r>
            <a:r>
              <a:rPr lang="en-US" altLang="ko-KR" sz="2000" dirty="0">
                <a:ea typeface="나눔고딕" panose="020D0604000000000000"/>
              </a:rPr>
              <a:t>.</a:t>
            </a:r>
            <a:endParaRPr lang="ko-KR" altLang="en-US" sz="2000" dirty="0">
              <a:ea typeface="나눔고딕" panose="020D0604000000000000"/>
            </a:endParaRPr>
          </a:p>
          <a:p>
            <a:pPr>
              <a:lnSpc>
                <a:spcPct val="120000"/>
              </a:lnSpc>
            </a:pPr>
            <a:r>
              <a:rPr lang="en-US" altLang="ko-KR" sz="2000" dirty="0">
                <a:ea typeface="나눔고딕" panose="020D0604000000000000"/>
              </a:rPr>
              <a:t>- </a:t>
            </a:r>
            <a:r>
              <a:rPr lang="ko-KR" altLang="en-US" sz="2000" dirty="0">
                <a:ea typeface="나눔고딕" panose="020D0604000000000000"/>
              </a:rPr>
              <a:t>데이터베이스 </a:t>
            </a:r>
            <a:r>
              <a:rPr lang="en-US" altLang="ko-KR" sz="2000" dirty="0">
                <a:ea typeface="나눔고딕" panose="020D0604000000000000"/>
              </a:rPr>
              <a:t>: MySQL</a:t>
            </a:r>
            <a:r>
              <a:rPr lang="ko-KR" altLang="en-US" sz="2000" dirty="0">
                <a:ea typeface="나눔고딕" panose="020D0604000000000000"/>
              </a:rPr>
              <a:t>을 통해 관리되어 안정적인 데이터 관리 환경을 구축합니다</a:t>
            </a:r>
            <a:r>
              <a:rPr lang="en-US" altLang="ko-KR" sz="2000" dirty="0">
                <a:ea typeface="나눔고딕" panose="020D0604000000000000"/>
              </a:rPr>
              <a:t>. </a:t>
            </a:r>
            <a:endParaRPr lang="ko-KR" altLang="en-US" sz="2000" dirty="0">
              <a:ea typeface="나눔고딕" panose="020D0604000000000000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endParaRPr lang="ko-KR" altLang="en-US" sz="2000" dirty="0">
              <a:latin typeface="궁서체" panose="02030609000101010101" pitchFamily="17" charset="-127"/>
              <a:ea typeface="나눔고딕" panose="020D0604000000000000"/>
            </a:endParaRPr>
          </a:p>
        </p:txBody>
      </p:sp>
      <p:sp>
        <p:nvSpPr>
          <p:cNvPr id="281" name="직사각형 280">
            <a:extLst>
              <a:ext uri="{FF2B5EF4-FFF2-40B4-BE49-F238E27FC236}">
                <a16:creationId xmlns:a16="http://schemas.microsoft.com/office/drawing/2014/main" id="{4F2D793C-6F09-0797-FE9B-F1E3666BCA87}"/>
              </a:ext>
            </a:extLst>
          </p:cNvPr>
          <p:cNvSpPr/>
          <p:nvPr/>
        </p:nvSpPr>
        <p:spPr>
          <a:xfrm>
            <a:off x="10974082" y="12904213"/>
            <a:ext cx="9723173" cy="379203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r>
              <a:rPr lang="ko-KR" altLang="en-US" sz="2000" dirty="0">
                <a:latin typeface="NanumGothic" panose="020D0604000000000000" pitchFamily="34" charset="-127"/>
                <a:ea typeface="NanumGothic" panose="020D0604000000000000" pitchFamily="34" charset="-127"/>
              </a:rPr>
              <a:t>본 연구는 다음과  같은 기대 효과를 가집니다</a:t>
            </a:r>
            <a:r>
              <a:rPr lang="en-US" altLang="ko-KR" sz="200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lang="ko-KR" altLang="en-US" sz="2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3" name="사각형: 둥근 모서리 282">
            <a:extLst>
              <a:ext uri="{FF2B5EF4-FFF2-40B4-BE49-F238E27FC236}">
                <a16:creationId xmlns:a16="http://schemas.microsoft.com/office/drawing/2014/main" id="{1BB9E046-692C-0FBC-C641-5E7FED758EA7}"/>
              </a:ext>
            </a:extLst>
          </p:cNvPr>
          <p:cNvSpPr/>
          <p:nvPr/>
        </p:nvSpPr>
        <p:spPr>
          <a:xfrm>
            <a:off x="688578" y="5265168"/>
            <a:ext cx="9724290" cy="76169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3897" rIns="253897" rtlCol="0" anchor="ctr"/>
          <a:lstStyle/>
          <a:p>
            <a:pPr defTabSz="2190186">
              <a:defRPr/>
            </a:pPr>
            <a:r>
              <a:rPr lang="en-US" altLang="ko-KR" sz="43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 Background </a:t>
            </a:r>
          </a:p>
        </p:txBody>
      </p:sp>
      <p:sp>
        <p:nvSpPr>
          <p:cNvPr id="286" name="사각형: 둥근 모서리 285">
            <a:extLst>
              <a:ext uri="{FF2B5EF4-FFF2-40B4-BE49-F238E27FC236}">
                <a16:creationId xmlns:a16="http://schemas.microsoft.com/office/drawing/2014/main" id="{50F4F420-F5D2-5D8E-81C1-DA59CC503B5D}"/>
              </a:ext>
            </a:extLst>
          </p:cNvPr>
          <p:cNvSpPr/>
          <p:nvPr/>
        </p:nvSpPr>
        <p:spPr>
          <a:xfrm>
            <a:off x="621506" y="7822746"/>
            <a:ext cx="9724290" cy="76169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3897" rIns="253897" rtlCol="0" anchor="ctr"/>
          <a:lstStyle/>
          <a:p>
            <a:pPr defTabSz="2190186"/>
            <a:r>
              <a:rPr lang="en-US" altLang="ko-KR" sz="43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Objectives </a:t>
            </a:r>
          </a:p>
        </p:txBody>
      </p:sp>
      <p:sp>
        <p:nvSpPr>
          <p:cNvPr id="289" name="사각형: 둥근 모서리 288">
            <a:extLst>
              <a:ext uri="{FF2B5EF4-FFF2-40B4-BE49-F238E27FC236}">
                <a16:creationId xmlns:a16="http://schemas.microsoft.com/office/drawing/2014/main" id="{F24C0BDD-D9DE-E9EC-6EE6-EE202DFE92FC}"/>
              </a:ext>
            </a:extLst>
          </p:cNvPr>
          <p:cNvSpPr/>
          <p:nvPr/>
        </p:nvSpPr>
        <p:spPr>
          <a:xfrm>
            <a:off x="621506" y="11728601"/>
            <a:ext cx="9724290" cy="76169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3897" rIns="253897" rtlCol="0" anchor="ctr"/>
          <a:lstStyle/>
          <a:p>
            <a:pPr defTabSz="2190186"/>
            <a:r>
              <a:rPr lang="en-US" altLang="ko-KR" sz="43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Methods</a:t>
            </a:r>
          </a:p>
        </p:txBody>
      </p:sp>
      <p:sp>
        <p:nvSpPr>
          <p:cNvPr id="292" name="사각형: 둥근 모서리 291">
            <a:extLst>
              <a:ext uri="{FF2B5EF4-FFF2-40B4-BE49-F238E27FC236}">
                <a16:creationId xmlns:a16="http://schemas.microsoft.com/office/drawing/2014/main" id="{92D1E055-E015-2E7E-39EA-2D39F55767D8}"/>
              </a:ext>
            </a:extLst>
          </p:cNvPr>
          <p:cNvSpPr/>
          <p:nvPr/>
        </p:nvSpPr>
        <p:spPr>
          <a:xfrm>
            <a:off x="10978592" y="5265168"/>
            <a:ext cx="9724290" cy="76169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3897" rIns="253897" rtlCol="0" anchor="ctr"/>
          <a:lstStyle/>
          <a:p>
            <a:pPr defTabSz="2190186"/>
            <a:r>
              <a:rPr lang="en-US" altLang="ko-KR" sz="43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Results</a:t>
            </a:r>
          </a:p>
        </p:txBody>
      </p:sp>
      <p:sp>
        <p:nvSpPr>
          <p:cNvPr id="295" name="사각형: 둥근 모서리 294">
            <a:extLst>
              <a:ext uri="{FF2B5EF4-FFF2-40B4-BE49-F238E27FC236}">
                <a16:creationId xmlns:a16="http://schemas.microsoft.com/office/drawing/2014/main" id="{ACE37420-0162-F0E6-CE78-A4AE92537AB0}"/>
              </a:ext>
            </a:extLst>
          </p:cNvPr>
          <p:cNvSpPr/>
          <p:nvPr/>
        </p:nvSpPr>
        <p:spPr>
          <a:xfrm>
            <a:off x="10974082" y="11887719"/>
            <a:ext cx="9724290" cy="76169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3897" rIns="253897" rtlCol="0" anchor="ctr"/>
          <a:lstStyle/>
          <a:p>
            <a:pPr defTabSz="2190186"/>
            <a:r>
              <a:rPr lang="en-US" altLang="ko-KR" sz="43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Conclusions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80487AA-3D56-F3E3-BBEF-B9B83139439E}"/>
              </a:ext>
            </a:extLst>
          </p:cNvPr>
          <p:cNvSpPr/>
          <p:nvPr/>
        </p:nvSpPr>
        <p:spPr>
          <a:xfrm>
            <a:off x="1408976" y="715116"/>
            <a:ext cx="18864565" cy="963989"/>
          </a:xfrm>
          <a:prstGeom prst="rect">
            <a:avLst/>
          </a:prstGeom>
        </p:spPr>
        <p:txBody>
          <a:bodyPr wrap="square" lIns="70747" tIns="35373" rIns="70747" bIns="35373">
            <a:spAutoFit/>
          </a:bodyPr>
          <a:lstStyle/>
          <a:p>
            <a:pPr algn="ctr"/>
            <a:r>
              <a:rPr lang="en-US" altLang="ko-KR" sz="58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  <a:cs typeface="Arial" panose="020B0604020202020204" pitchFamily="34" charset="0"/>
              </a:rPr>
              <a:t>WebRTC/Socket.io </a:t>
            </a:r>
            <a:r>
              <a:rPr lang="ko-KR" altLang="en-US" sz="58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  <a:cs typeface="Arial" panose="020B0604020202020204" pitchFamily="34" charset="0"/>
              </a:rPr>
              <a:t>기반 실시간 원격 협업 플랫폼 개발</a:t>
            </a:r>
            <a:r>
              <a:rPr lang="en-US" altLang="ko-KR" sz="58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397CBC2-8135-A151-FABE-E1AE8C6B08D3}"/>
              </a:ext>
            </a:extLst>
          </p:cNvPr>
          <p:cNvSpPr/>
          <p:nvPr/>
        </p:nvSpPr>
        <p:spPr>
          <a:xfrm>
            <a:off x="2670536" y="3036968"/>
            <a:ext cx="16042552" cy="584334"/>
          </a:xfrm>
          <a:prstGeom prst="rect">
            <a:avLst/>
          </a:prstGeom>
        </p:spPr>
        <p:txBody>
          <a:bodyPr wrap="square" lIns="70747" tIns="35373" rIns="70747" bIns="35373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박수현</a:t>
            </a:r>
            <a:r>
              <a:rPr lang="en-US" altLang="ko-KR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김규한</a:t>
            </a:r>
            <a:r>
              <a:rPr lang="en-US" altLang="ko-KR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32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유현하</a:t>
            </a:r>
            <a:r>
              <a:rPr lang="en-US" altLang="ko-KR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32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임현</a:t>
            </a:r>
            <a:endParaRPr lang="en-US" altLang="ko-KR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DEC7F2C7-DF14-4589-80F0-0BF26CE2D5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49178" y="28632147"/>
            <a:ext cx="5718585" cy="957792"/>
          </a:xfrm>
          <a:prstGeom prst="rect">
            <a:avLst/>
          </a:prstGeom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67A920C-7F84-43D6-98A3-13D7D447A0B8}"/>
              </a:ext>
            </a:extLst>
          </p:cNvPr>
          <p:cNvSpPr/>
          <p:nvPr/>
        </p:nvSpPr>
        <p:spPr>
          <a:xfrm>
            <a:off x="2726519" y="2105233"/>
            <a:ext cx="16042552" cy="662368"/>
          </a:xfrm>
          <a:prstGeom prst="rect">
            <a:avLst/>
          </a:prstGeom>
        </p:spPr>
        <p:txBody>
          <a:bodyPr wrap="square" lIns="70747" tIns="35373" rIns="70747" bIns="35373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동양미래대학교 컴퓨터소프트웨어공학과 </a:t>
            </a:r>
            <a:r>
              <a:rPr lang="en-US" altLang="ko-KR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YD</a:t>
            </a: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반 </a:t>
            </a:r>
            <a:r>
              <a:rPr lang="en-US" altLang="ko-KR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CMM</a:t>
            </a: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팀</a:t>
            </a:r>
            <a:endParaRPr lang="en-US" altLang="ko-KR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651C02C-D83F-4D45-A3F4-D83E81399E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4525" y="25884730"/>
            <a:ext cx="4063492" cy="4063492"/>
          </a:xfrm>
          <a:prstGeom prst="rect">
            <a:avLst/>
          </a:prstGeom>
        </p:spPr>
      </p:pic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C53AE3C2-B36F-4A97-8460-EF1DAE57052A}"/>
              </a:ext>
            </a:extLst>
          </p:cNvPr>
          <p:cNvSpPr/>
          <p:nvPr/>
        </p:nvSpPr>
        <p:spPr>
          <a:xfrm>
            <a:off x="2726519" y="3662924"/>
            <a:ext cx="16042552" cy="662368"/>
          </a:xfrm>
          <a:prstGeom prst="rect">
            <a:avLst/>
          </a:prstGeom>
        </p:spPr>
        <p:txBody>
          <a:bodyPr wrap="square" lIns="70747" tIns="35373" rIns="70747" bIns="35373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지도교수 </a:t>
            </a:r>
            <a:r>
              <a:rPr lang="en-US" altLang="ko-KR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: </a:t>
            </a: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이희진</a:t>
            </a:r>
            <a:endParaRPr lang="en-US" altLang="ko-KR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213836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3131" y="13819102"/>
            <a:ext cx="8261039" cy="4574838"/>
          </a:xfrm>
          <a:prstGeom prst="rect">
            <a:avLst/>
          </a:prstGeom>
        </p:spPr>
      </p:pic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DB66160F-0113-2FC8-36E9-BF5D7350B505}"/>
              </a:ext>
            </a:extLst>
          </p:cNvPr>
          <p:cNvGrpSpPr/>
          <p:nvPr/>
        </p:nvGrpSpPr>
        <p:grpSpPr>
          <a:xfrm>
            <a:off x="11007153" y="13887731"/>
            <a:ext cx="9560117" cy="2593004"/>
            <a:chOff x="16740755" y="34342148"/>
            <a:chExt cx="14505891" cy="3934451"/>
          </a:xfrm>
        </p:grpSpPr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9FD17E5A-EFF7-A6DC-2056-819A006E7069}"/>
                </a:ext>
              </a:extLst>
            </p:cNvPr>
            <p:cNvSpPr/>
            <p:nvPr/>
          </p:nvSpPr>
          <p:spPr>
            <a:xfrm>
              <a:off x="16740755" y="34342148"/>
              <a:ext cx="14464227" cy="3934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475007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950016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4425022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5900029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7375035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8850044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0325052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1800059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000" spc="-40"/>
            </a:p>
          </p:txBody>
        </p:sp>
        <p:sp>
          <p:nvSpPr>
            <p:cNvPr id="112" name="모서리가 둥근 직사각형 111">
              <a:extLst>
                <a:ext uri="{FF2B5EF4-FFF2-40B4-BE49-F238E27FC236}">
                  <a16:creationId xmlns:a16="http://schemas.microsoft.com/office/drawing/2014/main" id="{DE421A57-E425-CF19-88BD-2188F05E9705}"/>
                </a:ext>
              </a:extLst>
            </p:cNvPr>
            <p:cNvSpPr/>
            <p:nvPr/>
          </p:nvSpPr>
          <p:spPr>
            <a:xfrm>
              <a:off x="16956255" y="34749067"/>
              <a:ext cx="897356" cy="872344"/>
            </a:xfrm>
            <a:prstGeom prst="roundRect">
              <a:avLst>
                <a:gd name="adj" fmla="val 16055"/>
              </a:avLst>
            </a:prstGeom>
            <a:solidFill>
              <a:schemeClr val="accent5"/>
            </a:solidFill>
            <a:ln w="28575">
              <a:noFill/>
            </a:ln>
            <a:effectLst/>
            <a:scene3d>
              <a:camera prst="orthographicFront"/>
              <a:lightRig rig="threePt" dir="t"/>
            </a:scene3d>
            <a:sp3d prstMaterial="matte"/>
          </p:spPr>
          <p:txBody>
            <a:bodyPr vert="horz" wrap="square" lIns="60810" tIns="30405" rIns="60810" bIns="30405" numCol="1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marL="0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75007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950016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425022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900029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375035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850044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325052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1800059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57669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2000" b="1" spc="-40" dirty="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01</a:t>
              </a:r>
              <a:endParaRPr lang="ko-KR" altLang="en-US" sz="2000" b="1" spc="-4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BDE0D46D-16A6-371C-B515-11F2BE1B425D}"/>
                </a:ext>
              </a:extLst>
            </p:cNvPr>
            <p:cNvSpPr/>
            <p:nvPr/>
          </p:nvSpPr>
          <p:spPr>
            <a:xfrm>
              <a:off x="18033607" y="34644745"/>
              <a:ext cx="13213039" cy="3408571"/>
            </a:xfrm>
            <a:prstGeom prst="rect">
              <a:avLst/>
            </a:prstGeom>
          </p:spPr>
          <p:txBody>
            <a:bodyPr wrap="square" lIns="66712" tIns="33356" rIns="66712" bIns="33356">
              <a:spAutoFit/>
            </a:bodyPr>
            <a:lstStyle>
              <a:defPPr>
                <a:defRPr lang="ko-KR"/>
              </a:defPPr>
              <a:lvl1pPr marL="0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75007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950016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425022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900029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375035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850044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325052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1800059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ko-KR" altLang="en-US" sz="2000" b="1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원격 협업의 패러다임 전환 및 효율성 극대화</a:t>
              </a:r>
              <a:endParaRPr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pPr marL="342900" indent="-342900">
                <a:lnSpc>
                  <a:spcPct val="120000"/>
                </a:lnSpc>
                <a:buFontTx/>
                <a:buChar char="-"/>
              </a:pPr>
              <a:r>
                <a:rPr lang="ko-KR" altLang="en-US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기존의 정적인 문서 공유 방식의 비효율성을 해소합니다</a:t>
              </a:r>
              <a:r>
                <a:rPr lang="en-US" altLang="ko-KR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.</a:t>
              </a:r>
            </a:p>
            <a:p>
              <a:pPr marL="342900" indent="-342900">
                <a:lnSpc>
                  <a:spcPct val="120000"/>
                </a:lnSpc>
                <a:buFontTx/>
                <a:buChar char="-"/>
              </a:pPr>
              <a:r>
                <a:rPr lang="en-US" altLang="ko-KR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WebRTC </a:t>
              </a:r>
              <a:r>
                <a:rPr lang="ko-KR" altLang="en-US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기반의 실시간 통합 환경을 통해 도구 전환 없이 모든 협업이 이루어지게 합니다</a:t>
              </a:r>
              <a:r>
                <a:rPr lang="en-US" altLang="ko-KR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.</a:t>
              </a:r>
            </a:p>
            <a:p>
              <a:pPr marL="342900" indent="-342900">
                <a:lnSpc>
                  <a:spcPct val="120000"/>
                </a:lnSpc>
                <a:buFontTx/>
                <a:buChar char="-"/>
              </a:pPr>
              <a:r>
                <a:rPr lang="ko-KR" altLang="en-US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이를 통해 사용자의 </a:t>
              </a:r>
              <a:r>
                <a:rPr lang="ko-KR" altLang="en-US" sz="200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몰입도와</a:t>
              </a:r>
              <a:r>
                <a:rPr lang="ko-KR" altLang="en-US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팀의 작업 효율을 획기적으로 향상시킵니다</a:t>
              </a:r>
              <a:r>
                <a:rPr lang="en-US" altLang="ko-KR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.</a:t>
              </a:r>
              <a:endParaRPr lang="ko-KR" altLang="en-US" sz="20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8B450E1D-D41B-7A68-3E7B-F43FDB125A1F}"/>
              </a:ext>
            </a:extLst>
          </p:cNvPr>
          <p:cNvGrpSpPr/>
          <p:nvPr/>
        </p:nvGrpSpPr>
        <p:grpSpPr>
          <a:xfrm>
            <a:off x="11007153" y="17034680"/>
            <a:ext cx="9532658" cy="1838999"/>
            <a:chOff x="16777189" y="36319847"/>
            <a:chExt cx="14464226" cy="1244661"/>
          </a:xfrm>
        </p:grpSpPr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64A3C25B-EA7C-7E03-B2C8-CFA680CD0763}"/>
                </a:ext>
              </a:extLst>
            </p:cNvPr>
            <p:cNvSpPr/>
            <p:nvPr/>
          </p:nvSpPr>
          <p:spPr>
            <a:xfrm>
              <a:off x="16777189" y="36319847"/>
              <a:ext cx="14464226" cy="12446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475007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950016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4425022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5900029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7375035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8850044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0325052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1800059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000" spc="-40"/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47402812-4180-FCFC-FF25-69F2FCCF696A}"/>
                </a:ext>
              </a:extLst>
            </p:cNvPr>
            <p:cNvSpPr/>
            <p:nvPr/>
          </p:nvSpPr>
          <p:spPr>
            <a:xfrm>
              <a:off x="18149980" y="36441009"/>
              <a:ext cx="12783660" cy="1045469"/>
            </a:xfrm>
            <a:prstGeom prst="rect">
              <a:avLst/>
            </a:prstGeom>
          </p:spPr>
          <p:txBody>
            <a:bodyPr wrap="square" lIns="66712" tIns="33356" rIns="66712" bIns="33356">
              <a:spAutoFit/>
            </a:bodyPr>
            <a:lstStyle>
              <a:defPPr>
                <a:defRPr lang="ko-KR"/>
              </a:defPPr>
              <a:lvl1pPr marL="0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75007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950016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425022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900029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375035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850044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325052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1800059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ko-KR" altLang="en-US" sz="2000" b="1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데이터 기반의 공정한 팀 관리</a:t>
              </a:r>
              <a:endParaRPr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pPr>
                <a:lnSpc>
                  <a:spcPct val="120000"/>
                </a:lnSpc>
              </a:pPr>
              <a:r>
                <a:rPr lang="en-US" altLang="ko-KR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- </a:t>
              </a:r>
              <a:r>
                <a:rPr lang="ko-KR" altLang="en-US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관리자 대시보드를 통해 서버 안정성을 실시간으로 확보합니다</a:t>
              </a:r>
              <a:r>
                <a:rPr lang="en-US" altLang="ko-KR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.</a:t>
              </a:r>
            </a:p>
            <a:p>
              <a:pPr marL="342900" indent="-342900">
                <a:lnSpc>
                  <a:spcPct val="120000"/>
                </a:lnSpc>
                <a:buFontTx/>
                <a:buChar char="-"/>
              </a:pPr>
              <a:r>
                <a:rPr lang="ko-KR" altLang="en-US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팀원들의 객관적인 활동 기여도를 데이터로 시각화하여 제공합니다</a:t>
              </a:r>
              <a:r>
                <a:rPr lang="en-US" altLang="ko-KR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.</a:t>
              </a:r>
            </a:p>
            <a:p>
              <a:pPr marL="342900" indent="-342900">
                <a:lnSpc>
                  <a:spcPct val="120000"/>
                </a:lnSpc>
                <a:buFontTx/>
                <a:buChar char="-"/>
              </a:pPr>
              <a:r>
                <a:rPr lang="ko-KR" altLang="en-US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이는 팀 운영의 투명성과 공정성을 높이는데 기여합니다</a:t>
              </a:r>
              <a:r>
                <a:rPr lang="en-US" altLang="ko-KR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.</a:t>
              </a:r>
              <a:endParaRPr lang="ko-KR" altLang="en-US" sz="20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35AEB4D7-96D7-8603-CF6D-0B5F2F156A47}"/>
              </a:ext>
            </a:extLst>
          </p:cNvPr>
          <p:cNvGrpSpPr/>
          <p:nvPr/>
        </p:nvGrpSpPr>
        <p:grpSpPr>
          <a:xfrm>
            <a:off x="11007153" y="19306482"/>
            <a:ext cx="9532658" cy="2331726"/>
            <a:chOff x="16740755" y="38289466"/>
            <a:chExt cx="14464226" cy="3538009"/>
          </a:xfrm>
        </p:grpSpPr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6C83EB03-46B5-A4FA-70F5-AA95FE371569}"/>
                </a:ext>
              </a:extLst>
            </p:cNvPr>
            <p:cNvSpPr/>
            <p:nvPr/>
          </p:nvSpPr>
          <p:spPr>
            <a:xfrm>
              <a:off x="16740755" y="38289466"/>
              <a:ext cx="14464226" cy="35380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475007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950016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4425022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5900029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7375035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8850044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0325052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1800059" algn="l" defTabSz="2950016" rtl="0" eaLnBrk="1" latinLnBrk="1" hangingPunct="1">
                <a:defRPr sz="579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000" spc="-40"/>
            </a:p>
          </p:txBody>
        </p:sp>
        <p:sp>
          <p:nvSpPr>
            <p:cNvPr id="118" name="모서리가 둥근 직사각형 117">
              <a:extLst>
                <a:ext uri="{FF2B5EF4-FFF2-40B4-BE49-F238E27FC236}">
                  <a16:creationId xmlns:a16="http://schemas.microsoft.com/office/drawing/2014/main" id="{E96F90B1-8163-7DAF-7870-CF73068F2A67}"/>
                </a:ext>
              </a:extLst>
            </p:cNvPr>
            <p:cNvSpPr/>
            <p:nvPr/>
          </p:nvSpPr>
          <p:spPr>
            <a:xfrm>
              <a:off x="16956254" y="38743061"/>
              <a:ext cx="897356" cy="872343"/>
            </a:xfrm>
            <a:prstGeom prst="roundRect">
              <a:avLst>
                <a:gd name="adj" fmla="val 16055"/>
              </a:avLst>
            </a:prstGeom>
            <a:solidFill>
              <a:schemeClr val="accent5"/>
            </a:solidFill>
            <a:ln w="28575">
              <a:noFill/>
            </a:ln>
            <a:effectLst/>
            <a:scene3d>
              <a:camera prst="orthographicFront"/>
              <a:lightRig rig="threePt" dir="t"/>
            </a:scene3d>
            <a:sp3d prstMaterial="matte"/>
          </p:spPr>
          <p:txBody>
            <a:bodyPr vert="horz" wrap="square" lIns="60810" tIns="30405" rIns="60810" bIns="30405" numCol="1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marL="0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75007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950016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425022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900029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375035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850044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325052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1800059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57669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2000" b="1" spc="-4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03</a:t>
              </a:r>
              <a:endParaRPr lang="ko-KR" altLang="en-US" sz="2000" b="1" spc="-4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988E0CE9-9FE3-1A43-765B-C22314F15110}"/>
                </a:ext>
              </a:extLst>
            </p:cNvPr>
            <p:cNvSpPr/>
            <p:nvPr/>
          </p:nvSpPr>
          <p:spPr>
            <a:xfrm>
              <a:off x="18040830" y="38606363"/>
              <a:ext cx="12783660" cy="2848174"/>
            </a:xfrm>
            <a:prstGeom prst="rect">
              <a:avLst/>
            </a:prstGeom>
          </p:spPr>
          <p:txBody>
            <a:bodyPr wrap="square" lIns="66712" tIns="33356" rIns="66712" bIns="33356">
              <a:spAutoFit/>
            </a:bodyPr>
            <a:lstStyle>
              <a:defPPr>
                <a:defRPr lang="ko-KR"/>
              </a:defPPr>
              <a:lvl1pPr marL="0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75007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950016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425022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900029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375035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850044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325052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1800059" algn="l" defTabSz="2950016" rtl="0" eaLnBrk="1" latinLnBrk="1" hangingPunct="1">
                <a:defRPr sz="57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ko-KR" altLang="en-US" sz="2000" b="1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지속 가능하고 확장 가능한 서비스</a:t>
              </a:r>
              <a:endParaRPr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pPr marL="342900" indent="-342900">
                <a:lnSpc>
                  <a:spcPct val="120000"/>
                </a:lnSpc>
                <a:buFontTx/>
                <a:buChar char="-"/>
              </a:pPr>
              <a:r>
                <a:rPr lang="en-US" altLang="ko-KR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AWS</a:t>
              </a:r>
              <a:r>
                <a:rPr lang="ko-KR" altLang="en-US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와 </a:t>
              </a:r>
              <a:r>
                <a:rPr lang="en-US" altLang="ko-KR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Docker </a:t>
              </a:r>
              <a:r>
                <a:rPr lang="ko-KR" altLang="en-US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기반의 마이크로 서비스 아키텍처를 구축함으로써 안정적인 서비스 운영 기반을 확보했습니다</a:t>
              </a:r>
              <a:r>
                <a:rPr lang="en-US" altLang="ko-KR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.</a:t>
              </a:r>
            </a:p>
            <a:p>
              <a:pPr marL="342900" indent="-342900">
                <a:lnSpc>
                  <a:spcPct val="120000"/>
                </a:lnSpc>
                <a:buFontTx/>
                <a:buChar char="-"/>
              </a:pPr>
              <a:r>
                <a:rPr lang="ko-KR" altLang="en-US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이는 향후 프로젝트 관리 기능</a:t>
              </a:r>
              <a:r>
                <a:rPr lang="en-US" altLang="ko-KR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, </a:t>
              </a:r>
              <a:r>
                <a:rPr lang="ko-KR" altLang="en-US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외부 서비스 연동 등 다양한 기능 추가 및 대규모 사용자 유입에 대비한 확장성을 보장합니다</a:t>
              </a:r>
              <a:r>
                <a:rPr lang="en-US" altLang="ko-KR" sz="2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.</a:t>
              </a:r>
              <a:endParaRPr lang="ko-KR" altLang="en-US" sz="20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122" name="모서리가 둥근 직사각형 121">
            <a:extLst>
              <a:ext uri="{FF2B5EF4-FFF2-40B4-BE49-F238E27FC236}">
                <a16:creationId xmlns:a16="http://schemas.microsoft.com/office/drawing/2014/main" id="{B88BE1FF-E3C9-242C-434C-14B372EC6C45}"/>
              </a:ext>
            </a:extLst>
          </p:cNvPr>
          <p:cNvSpPr/>
          <p:nvPr/>
        </p:nvSpPr>
        <p:spPr>
          <a:xfrm>
            <a:off x="11163821" y="17271947"/>
            <a:ext cx="591403" cy="574919"/>
          </a:xfrm>
          <a:prstGeom prst="roundRect">
            <a:avLst>
              <a:gd name="adj" fmla="val 16055"/>
            </a:avLst>
          </a:prstGeom>
          <a:solidFill>
            <a:schemeClr val="accent5"/>
          </a:solidFill>
          <a:ln w="28575">
            <a:noFill/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60810" tIns="30405" rIns="60810" bIns="30405" numCol="1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2950016" rtl="0" eaLnBrk="1" latinLnBrk="1" hangingPunct="1">
              <a:defRPr sz="57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75007" algn="l" defTabSz="2950016" rtl="0" eaLnBrk="1" latinLnBrk="1" hangingPunct="1">
              <a:defRPr sz="57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950016" algn="l" defTabSz="2950016" rtl="0" eaLnBrk="1" latinLnBrk="1" hangingPunct="1">
              <a:defRPr sz="57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425022" algn="l" defTabSz="2950016" rtl="0" eaLnBrk="1" latinLnBrk="1" hangingPunct="1">
              <a:defRPr sz="57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00029" algn="l" defTabSz="2950016" rtl="0" eaLnBrk="1" latinLnBrk="1" hangingPunct="1">
              <a:defRPr sz="57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75035" algn="l" defTabSz="2950016" rtl="0" eaLnBrk="1" latinLnBrk="1" hangingPunct="1">
              <a:defRPr sz="57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850044" algn="l" defTabSz="2950016" rtl="0" eaLnBrk="1" latinLnBrk="1" hangingPunct="1">
              <a:defRPr sz="57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325052" algn="l" defTabSz="2950016" rtl="0" eaLnBrk="1" latinLnBrk="1" hangingPunct="1">
              <a:defRPr sz="57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800059" algn="l" defTabSz="2950016" rtl="0" eaLnBrk="1" latinLnBrk="1" hangingPunct="1">
              <a:defRPr sz="57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669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000" b="1" spc="-4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itchFamily="34" charset="0"/>
              </a:rPr>
              <a:t>02</a:t>
            </a:r>
            <a:endParaRPr lang="ko-KR" altLang="en-US" sz="2000" b="1" spc="-4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582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946</TotalTime>
  <Words>676</Words>
  <Application>Microsoft Macintosh PowerPoint</Application>
  <PresentationFormat>사용자 지정</PresentationFormat>
  <Paragraphs>52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궁서체</vt:lpstr>
      <vt:lpstr>NanumGothic</vt:lpstr>
      <vt:lpstr>NanumGothic</vt:lpstr>
      <vt:lpstr>나눔고딕 ExtraBold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임현</cp:lastModifiedBy>
  <cp:revision>109</cp:revision>
  <dcterms:created xsi:type="dcterms:W3CDTF">2018-10-17T01:18:09Z</dcterms:created>
  <dcterms:modified xsi:type="dcterms:W3CDTF">2025-10-29T05:08:16Z</dcterms:modified>
</cp:coreProperties>
</file>